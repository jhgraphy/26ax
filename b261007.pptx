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3865" r:id="rId5"/>
    <p:sldId id="3866" r:id="rId6"/>
    <p:sldId id="3867" r:id="rId7"/>
    <p:sldId id="3868" r:id="rId8"/>
    <p:sldId id="3869" r:id="rId9"/>
  </p:sldIdLst>
  <p:sldSz cx="9906000" cy="6858000" type="A4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" userDrawn="1">
          <p15:clr>
            <a:srgbClr val="A4A3A4"/>
          </p15:clr>
        </p15:guide>
        <p15:guide id="2" orient="horz" pos="1344" userDrawn="1">
          <p15:clr>
            <a:srgbClr val="A4A3A4"/>
          </p15:clr>
        </p15:guide>
        <p15:guide id="3" orient="horz" pos="2296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orient="horz" pos="1207" userDrawn="1">
          <p15:clr>
            <a:srgbClr val="A4A3A4"/>
          </p15:clr>
        </p15:guide>
        <p15:guide id="6" orient="horz" pos="3294" userDrawn="1">
          <p15:clr>
            <a:srgbClr val="A4A3A4"/>
          </p15:clr>
        </p15:guide>
        <p15:guide id="7" orient="horz" pos="2432" userDrawn="1">
          <p15:clr>
            <a:srgbClr val="A4A3A4"/>
          </p15:clr>
        </p15:guide>
        <p15:guide id="8" pos="5883" userDrawn="1">
          <p15:clr>
            <a:srgbClr val="A4A3A4"/>
          </p15:clr>
        </p15:guide>
        <p15:guide id="9" pos="223" userDrawn="1">
          <p15:clr>
            <a:srgbClr val="A4A3A4"/>
          </p15:clr>
        </p15:guide>
        <p15:guide id="10" pos="981" userDrawn="1">
          <p15:clr>
            <a:srgbClr val="A4A3A4"/>
          </p15:clr>
        </p15:guide>
        <p15:guide id="11" pos="2540" userDrawn="1">
          <p15:clr>
            <a:srgbClr val="A4A3A4"/>
          </p15:clr>
        </p15:guide>
        <p15:guide id="12" pos="2362" userDrawn="1">
          <p15:clr>
            <a:srgbClr val="A4A3A4"/>
          </p15:clr>
        </p15:guide>
        <p15:guide id="13" pos="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CCCCFF"/>
    <a:srgbClr val="CC99FF"/>
    <a:srgbClr val="FFCC99"/>
    <a:srgbClr val="878787"/>
    <a:srgbClr val="0000FF"/>
    <a:srgbClr val="006600"/>
    <a:srgbClr val="99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6E2CE0-F2C5-411B-9B9B-940847976329}" v="124" dt="2026-10-06T08:01:04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0464" autoAdjust="0"/>
  </p:normalViewPr>
  <p:slideViewPr>
    <p:cSldViewPr showGuides="1">
      <p:cViewPr varScale="1">
        <p:scale>
          <a:sx n="100" d="100"/>
          <a:sy n="100" d="100"/>
        </p:scale>
        <p:origin x="2502" y="78"/>
      </p:cViewPr>
      <p:guideLst>
        <p:guide orient="horz" pos="28"/>
        <p:guide orient="horz" pos="1344"/>
        <p:guide orient="horz" pos="2296"/>
        <p:guide orient="horz" pos="618"/>
        <p:guide orient="horz" pos="1207"/>
        <p:guide orient="horz" pos="3294"/>
        <p:guide orient="horz" pos="2432"/>
        <p:guide pos="5883"/>
        <p:guide pos="223"/>
        <p:guide pos="981"/>
        <p:guide pos="2540"/>
        <p:guide pos="2362"/>
        <p:guide pos="8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8" y="7"/>
            <a:ext cx="2945659" cy="493633"/>
          </a:xfrm>
          <a:prstGeom prst="rect">
            <a:avLst/>
          </a:prstGeom>
        </p:spPr>
        <p:txBody>
          <a:bodyPr vert="horz" lIns="90947" tIns="45474" rIns="90947" bIns="4547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8" y="7"/>
            <a:ext cx="2945659" cy="493633"/>
          </a:xfrm>
          <a:prstGeom prst="rect">
            <a:avLst/>
          </a:prstGeom>
        </p:spPr>
        <p:txBody>
          <a:bodyPr vert="horz" lIns="90947" tIns="45474" rIns="90947" bIns="45474" rtlCol="0"/>
          <a:lstStyle>
            <a:lvl1pPr algn="r">
              <a:defRPr sz="1200"/>
            </a:lvl1pPr>
          </a:lstStyle>
          <a:p>
            <a:fld id="{AFB4392E-64BB-47E5-948F-B56DD31BE762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39775"/>
            <a:ext cx="53467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47" tIns="45474" rIns="90947" bIns="4547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20"/>
            <a:ext cx="5438140" cy="4442698"/>
          </a:xfrm>
          <a:prstGeom prst="rect">
            <a:avLst/>
          </a:prstGeom>
        </p:spPr>
        <p:txBody>
          <a:bodyPr vert="horz" lIns="90947" tIns="45474" rIns="90947" bIns="45474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8" y="9377323"/>
            <a:ext cx="2945659" cy="493633"/>
          </a:xfrm>
          <a:prstGeom prst="rect">
            <a:avLst/>
          </a:prstGeom>
        </p:spPr>
        <p:txBody>
          <a:bodyPr vert="horz" lIns="90947" tIns="45474" rIns="90947" bIns="4547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8" y="9377323"/>
            <a:ext cx="2945659" cy="493633"/>
          </a:xfrm>
          <a:prstGeom prst="rect">
            <a:avLst/>
          </a:prstGeom>
        </p:spPr>
        <p:txBody>
          <a:bodyPr vert="horz" lIns="90947" tIns="45474" rIns="90947" bIns="45474" rtlCol="0" anchor="b"/>
          <a:lstStyle>
            <a:lvl1pPr algn="r">
              <a:defRPr sz="1200"/>
            </a:lvl1pPr>
          </a:lstStyle>
          <a:p>
            <a:fld id="{670FC2D8-4CD5-47F2-8282-114DB4B677C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2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83726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40702" rtl="0" eaLnBrk="0" fontAlgn="base" latinLnBrk="1" hangingPunct="0">
        <a:spcBef>
          <a:spcPct val="0"/>
        </a:spcBef>
        <a:spcAft>
          <a:spcPct val="0"/>
        </a:spcAft>
        <a:defRPr kumimoji="1" sz="4324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940702" rtl="0" eaLnBrk="0" fontAlgn="base" latinLnBrk="1" hangingPunct="0">
        <a:spcBef>
          <a:spcPct val="0"/>
        </a:spcBef>
        <a:spcAft>
          <a:spcPct val="0"/>
        </a:spcAft>
        <a:defRPr kumimoji="1" sz="4324" b="1">
          <a:solidFill>
            <a:schemeClr val="tx2"/>
          </a:solidFill>
          <a:latin typeface="Arial" charset="0"/>
          <a:ea typeface="돋움" pitchFamily="50" charset="-127"/>
        </a:defRPr>
      </a:lvl2pPr>
      <a:lvl3pPr algn="l" defTabSz="940702" rtl="0" eaLnBrk="0" fontAlgn="base" latinLnBrk="1" hangingPunct="0">
        <a:spcBef>
          <a:spcPct val="0"/>
        </a:spcBef>
        <a:spcAft>
          <a:spcPct val="0"/>
        </a:spcAft>
        <a:defRPr kumimoji="1" sz="4324" b="1">
          <a:solidFill>
            <a:schemeClr val="tx2"/>
          </a:solidFill>
          <a:latin typeface="Arial" charset="0"/>
          <a:ea typeface="돋움" pitchFamily="50" charset="-127"/>
        </a:defRPr>
      </a:lvl3pPr>
      <a:lvl4pPr algn="l" defTabSz="940702" rtl="0" eaLnBrk="0" fontAlgn="base" latinLnBrk="1" hangingPunct="0">
        <a:spcBef>
          <a:spcPct val="0"/>
        </a:spcBef>
        <a:spcAft>
          <a:spcPct val="0"/>
        </a:spcAft>
        <a:defRPr kumimoji="1" sz="4324" b="1">
          <a:solidFill>
            <a:schemeClr val="tx2"/>
          </a:solidFill>
          <a:latin typeface="Arial" charset="0"/>
          <a:ea typeface="돋움" pitchFamily="50" charset="-127"/>
        </a:defRPr>
      </a:lvl4pPr>
      <a:lvl5pPr algn="l" defTabSz="940702" rtl="0" eaLnBrk="0" fontAlgn="base" latinLnBrk="1" hangingPunct="0">
        <a:spcBef>
          <a:spcPct val="0"/>
        </a:spcBef>
        <a:spcAft>
          <a:spcPct val="0"/>
        </a:spcAft>
        <a:defRPr kumimoji="1" sz="4324" b="1">
          <a:solidFill>
            <a:schemeClr val="tx2"/>
          </a:solidFill>
          <a:latin typeface="Arial" charset="0"/>
          <a:ea typeface="돋움" pitchFamily="50" charset="-127"/>
        </a:defRPr>
      </a:lvl5pPr>
      <a:lvl6pPr marL="449290" algn="l" defTabSz="940702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6pPr>
      <a:lvl7pPr marL="898581" algn="l" defTabSz="940702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7pPr>
      <a:lvl8pPr marL="1347871" algn="l" defTabSz="940702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8pPr>
      <a:lvl9pPr marL="1797162" algn="l" defTabSz="940702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36968" indent="-336968" algn="l" defTabSz="940702" rtl="0" eaLnBrk="0" fontAlgn="base" latinLnBrk="1" hangingPunct="0">
        <a:spcBef>
          <a:spcPct val="0"/>
        </a:spcBef>
        <a:spcAft>
          <a:spcPct val="0"/>
        </a:spcAft>
        <a:buSzPct val="120000"/>
        <a:buChar char="•"/>
        <a:defRPr kumimoji="1" sz="1572" b="1">
          <a:solidFill>
            <a:schemeClr val="tx1"/>
          </a:solidFill>
          <a:latin typeface="+mn-lt"/>
          <a:ea typeface="+mn-ea"/>
          <a:cs typeface="+mn-cs"/>
        </a:defRPr>
      </a:lvl1pPr>
      <a:lvl2pPr marL="151324" indent="-149763" algn="l" defTabSz="940702" rtl="0" eaLnBrk="0" fontAlgn="base" latinLnBrk="1" hangingPunct="0">
        <a:spcBef>
          <a:spcPct val="0"/>
        </a:spcBef>
        <a:spcAft>
          <a:spcPct val="0"/>
        </a:spcAft>
        <a:buSzPct val="120000"/>
        <a:buChar char="•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310448" indent="-157564" algn="l" defTabSz="940702" rtl="0" eaLnBrk="0" fontAlgn="base" latinLnBrk="1" hangingPunct="0">
        <a:spcBef>
          <a:spcPct val="0"/>
        </a:spcBef>
        <a:spcAft>
          <a:spcPct val="0"/>
        </a:spcAft>
        <a:buChar char="–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453971" indent="-141964" algn="l" defTabSz="940702" rtl="0" eaLnBrk="0" fontAlgn="base" latinLnBrk="1" hangingPunct="0">
        <a:spcBef>
          <a:spcPct val="0"/>
        </a:spcBef>
        <a:spcAft>
          <a:spcPct val="0"/>
        </a:spcAft>
        <a:buSzPct val="89000"/>
        <a:buChar char="•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611534" indent="-156004" algn="l" defTabSz="940702" rtl="0" eaLnBrk="0" fontAlgn="base" latinLnBrk="1" hangingPunct="0">
        <a:spcBef>
          <a:spcPct val="0"/>
        </a:spcBef>
        <a:spcAft>
          <a:spcPct val="0"/>
        </a:spcAft>
        <a:buSzPct val="75000"/>
        <a:buChar char="–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1060825" indent="-156004" algn="l" defTabSz="940702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510115" indent="-156004" algn="l" defTabSz="940702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959406" indent="-156004" algn="l" defTabSz="940702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408696" indent="-156004" algn="l" defTabSz="940702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572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1pPr>
      <a:lvl2pPr marL="449290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2pPr>
      <a:lvl3pPr marL="898581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3pPr>
      <a:lvl4pPr marL="1347871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4pPr>
      <a:lvl5pPr marL="1797162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5pPr>
      <a:lvl6pPr marL="2246452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6pPr>
      <a:lvl7pPr marL="2695743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7pPr>
      <a:lvl8pPr marL="3145033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8pPr>
      <a:lvl9pPr marL="3594324" algn="l" defTabSz="898581" rtl="0" eaLnBrk="1" latinLnBrk="1" hangingPunct="1">
        <a:defRPr sz="17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F863-C794-1779-E626-BA374502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CF04965-0CA0-C7C4-2994-CAF8FDC8D0EF}"/>
              </a:ext>
            </a:extLst>
          </p:cNvPr>
          <p:cNvCxnSpPr>
            <a:cxnSpLocks/>
          </p:cNvCxnSpPr>
          <p:nvPr/>
        </p:nvCxnSpPr>
        <p:spPr>
          <a:xfrm>
            <a:off x="222002" y="476672"/>
            <a:ext cx="94619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>
            <a:extLst>
              <a:ext uri="{FF2B5EF4-FFF2-40B4-BE49-F238E27FC236}">
                <a16:creationId xmlns:a16="http://schemas.microsoft.com/office/drawing/2014/main" id="{AD308248-0809-8CA8-803F-C32744BE0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82" y="102419"/>
            <a:ext cx="92140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rgbClr val="000000">
                <a:satMod val="175000"/>
                <a:alpha val="40000"/>
              </a:srgbClr>
            </a:glow>
          </a:effectLst>
        </p:spPr>
        <p:txBody>
          <a:bodyPr wrap="square" anchor="ctr">
            <a:spAutoFit/>
          </a:bodyPr>
          <a:lstStyle/>
          <a:p>
            <a:pPr defTabSz="89858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[회의록] 전극설계팀 미팅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EE4A0AD-20F0-D197-B97C-416B283BA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22734"/>
              </p:ext>
            </p:extLst>
          </p:nvPr>
        </p:nvGraphicFramePr>
        <p:xfrm>
          <a:off x="344488" y="633585"/>
          <a:ext cx="9217024" cy="1161078"/>
        </p:xfrm>
        <a:graphic>
          <a:graphicData uri="http://schemas.openxmlformats.org/drawingml/2006/table">
            <a:tbl>
              <a:tblPr/>
              <a:tblGrid>
                <a:gridCol w="743277">
                  <a:extLst>
                    <a:ext uri="{9D8B030D-6E8A-4147-A177-3AD203B41FA5}">
                      <a16:colId xmlns:a16="http://schemas.microsoft.com/office/drawing/2014/main" val="1246926096"/>
                    </a:ext>
                  </a:extLst>
                </a:gridCol>
                <a:gridCol w="1321380">
                  <a:extLst>
                    <a:ext uri="{9D8B030D-6E8A-4147-A177-3AD203B41FA5}">
                      <a16:colId xmlns:a16="http://schemas.microsoft.com/office/drawing/2014/main" val="1287266682"/>
                    </a:ext>
                  </a:extLst>
                </a:gridCol>
                <a:gridCol w="3806476">
                  <a:extLst>
                    <a:ext uri="{9D8B030D-6E8A-4147-A177-3AD203B41FA5}">
                      <a16:colId xmlns:a16="http://schemas.microsoft.com/office/drawing/2014/main" val="3520784441"/>
                    </a:ext>
                  </a:extLst>
                </a:gridCol>
                <a:gridCol w="870909">
                  <a:extLst>
                    <a:ext uri="{9D8B030D-6E8A-4147-A177-3AD203B41FA5}">
                      <a16:colId xmlns:a16="http://schemas.microsoft.com/office/drawing/2014/main" val="2640418145"/>
                    </a:ext>
                  </a:extLst>
                </a:gridCol>
                <a:gridCol w="2474982">
                  <a:extLst>
                    <a:ext uri="{9D8B030D-6E8A-4147-A177-3AD203B41FA5}">
                      <a16:colId xmlns:a16="http://schemas.microsoft.com/office/drawing/2014/main" val="4142144627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회의명</a:t>
                      </a: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실험자동화 논의 #2차 미팅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561231"/>
                  </a:ext>
                </a:extLst>
              </a:tr>
              <a:tr h="29707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일시</a:t>
                      </a: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2026.10.01 16:30 ~ 17:30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</a:t>
                      </a: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대전기술연구원 4P307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459603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참석자</a:t>
                      </a: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소재개발AX팀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우선확 팀장, 장은수 책임, 이정훈 책임, 맹한솔 책임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4598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전극설계팀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권혁용 책임, 정민환 책임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89318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B7C607E-D865-5FC1-78E9-86A05E50A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817671"/>
              </p:ext>
            </p:extLst>
          </p:nvPr>
        </p:nvGraphicFramePr>
        <p:xfrm>
          <a:off x="344488" y="5055144"/>
          <a:ext cx="9217024" cy="1548000"/>
        </p:xfrm>
        <a:graphic>
          <a:graphicData uri="http://schemas.openxmlformats.org/drawingml/2006/table">
            <a:tbl>
              <a:tblPr/>
              <a:tblGrid>
                <a:gridCol w="5791377">
                  <a:extLst>
                    <a:ext uri="{9D8B030D-6E8A-4147-A177-3AD203B41FA5}">
                      <a16:colId xmlns:a16="http://schemas.microsoft.com/office/drawing/2014/main" val="2699825905"/>
                    </a:ext>
                  </a:extLst>
                </a:gridCol>
                <a:gridCol w="1265407">
                  <a:extLst>
                    <a:ext uri="{9D8B030D-6E8A-4147-A177-3AD203B41FA5}">
                      <a16:colId xmlns:a16="http://schemas.microsoft.com/office/drawing/2014/main" val="33101599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811749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24444346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회의 내용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63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추후 미팅 일정 수립(팀장급 미팅) : 추후 방향성 논의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3601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소재개발AX팀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26/10/08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219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반제품·슬러리·정극·유변물성 리스트 정리 후 전달 예정 </a:t>
                      </a:r>
                      <a:br>
                        <a:rPr lang="en-US" alt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→ 전달받은 리스트 체크 후 회신 요청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3601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소재개발AX팀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/전극설계팀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26/10/08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44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회의록 정리 및 공유 예정, 다음 주 업데이트 후 재검토 예정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3601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소재개발AX팀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26/10/06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131124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67649A9-E31B-403A-FB90-E58D62605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4145"/>
              </p:ext>
            </p:extLst>
          </p:nvPr>
        </p:nvGraphicFramePr>
        <p:xfrm>
          <a:off x="344488" y="2174824"/>
          <a:ext cx="9217024" cy="2448000"/>
        </p:xfrm>
        <a:graphic>
          <a:graphicData uri="http://schemas.openxmlformats.org/drawingml/2006/table">
            <a:tbl>
              <a:tblPr/>
              <a:tblGrid>
                <a:gridCol w="437910">
                  <a:extLst>
                    <a:ext uri="{9D8B030D-6E8A-4147-A177-3AD203B41FA5}">
                      <a16:colId xmlns:a16="http://schemas.microsoft.com/office/drawing/2014/main" val="2699825905"/>
                    </a:ext>
                  </a:extLst>
                </a:gridCol>
                <a:gridCol w="8779114">
                  <a:extLst>
                    <a:ext uri="{9D8B030D-6E8A-4147-A177-3AD203B41FA5}">
                      <a16:colId xmlns:a16="http://schemas.microsoft.com/office/drawing/2014/main" val="33101599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 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63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소재개발 AX 과제 개요 및 현황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21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과제 진행 방향/방식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44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일정 및 투자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1766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현황 조사 및 맨파워 산출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5950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모노셀·스택셀 자동화 방향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4744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개발센터 협업 범위 (의사결정 필요)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4616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241C1D8-663C-114A-851E-CA8B229BBE1B}"/>
              </a:ext>
            </a:extLst>
          </p:cNvPr>
          <p:cNvSpPr txBox="1"/>
          <p:nvPr/>
        </p:nvSpPr>
        <p:spPr>
          <a:xfrm>
            <a:off x="344488" y="1844824"/>
            <a:ext cx="1488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/>
              <a:t>주요 </a:t>
            </a:r>
            <a:r>
              <a:rPr lang="en-US" altLang="ko-KR" sz="1600" b="1"/>
              <a:t>Agenda</a:t>
            </a:r>
            <a:endParaRPr lang="ko-KR" altLang="en-US" sz="16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428A1D-8097-7BA2-2558-7CA2C84DBB1B}"/>
              </a:ext>
            </a:extLst>
          </p:cNvPr>
          <p:cNvSpPr txBox="1"/>
          <p:nvPr/>
        </p:nvSpPr>
        <p:spPr>
          <a:xfrm>
            <a:off x="344488" y="4725144"/>
            <a:ext cx="1149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b="1"/>
              <a:t>F/U </a:t>
            </a:r>
            <a:r>
              <a:rPr lang="ko-KR" altLang="en-US" sz="1600" b="1"/>
              <a:t>사항</a:t>
            </a:r>
          </a:p>
        </p:txBody>
      </p:sp>
    </p:spTree>
    <p:extLst>
      <p:ext uri="{BB962C8B-B14F-4D97-AF65-F5344CB8AC3E}">
        <p14:creationId xmlns:p14="http://schemas.microsoft.com/office/powerpoint/2010/main" val="304980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02E5-8599-2B54-75E7-4EF79AE3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A75949D-49EF-937C-2127-C03B79C85C74}"/>
              </a:ext>
            </a:extLst>
          </p:cNvPr>
          <p:cNvCxnSpPr>
            <a:cxnSpLocks/>
          </p:cNvCxnSpPr>
          <p:nvPr/>
        </p:nvCxnSpPr>
        <p:spPr>
          <a:xfrm>
            <a:off x="222002" y="476672"/>
            <a:ext cx="94619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>
            <a:extLst>
              <a:ext uri="{FF2B5EF4-FFF2-40B4-BE49-F238E27FC236}">
                <a16:creationId xmlns:a16="http://schemas.microsoft.com/office/drawing/2014/main" id="{B651AB26-684D-E71A-7396-082518F0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82" y="102419"/>
            <a:ext cx="92140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rgbClr val="000000">
                <a:satMod val="175000"/>
                <a:alpha val="40000"/>
              </a:srgbClr>
            </a:glow>
          </a:effectLst>
        </p:spPr>
        <p:txBody>
          <a:bodyPr wrap="square" anchor="ctr">
            <a:spAutoFit/>
          </a:bodyPr>
          <a:lstStyle/>
          <a:p>
            <a:pPr defTabSz="89858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[회의록] 전극설계팀 미팅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B11F326-9A78-B380-16CC-16D945EA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285577"/>
              </p:ext>
            </p:extLst>
          </p:nvPr>
        </p:nvGraphicFramePr>
        <p:xfrm>
          <a:off x="344488" y="692696"/>
          <a:ext cx="9217024" cy="4968000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117786457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6998259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101599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99811749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회의 내용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63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소재개발 AX 과제 개요 및 현황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72194"/>
                  </a:ext>
                </a:extLst>
              </a:tr>
              <a:tr h="360000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지주사에 올해 초 보고된 AX 과제로, 현업 연구팀과 협업하여 에이전트 개발 및 실험 자동화 추진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0101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범위가 양극재에서 4대 소재, 6대 소재로 확장되었고 이에 따라 조직도 변경 중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56882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대상 12개 팀: 양극재 개발 담당, 소재기술 담당(음극재·전해액 등), 파우치형부품팀, 요소소재팀 포함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1634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연구 인원 185명이며, 자연감소분만 보충하여 2030년까지 175명 유지가 전제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98474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양극재 선행 A급 기준 G1~G3 기간 약 85주를 35주로 단축하는 것이 목표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5578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지주사 탑다운 KPI와 현업 실태 간 간극 존재. 지주사 보고 내용에 맞춰 조정하며 보완 중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57845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CATL이 2028년까지 달성 예정이라는 이유로 목표 시점이 2030년에서 2028년으로 앞당겨짐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681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과제 진행 방향/방식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911036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에이전트(두뇌), 실험 자동화 설비(손발), 미들웨어·플랫폼(신경망)의 3단 구조. 플랫폼 부분은 현재 공백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92869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최종 목표는 에이전트의 DOE 제안, 가상검증, 자동화 설비 실험, 피드백으로 이어지는 SDL 구축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27866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팀 내부를 3개 기능 그룹으로 구성 (피지컬 AI 포함)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96834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유관 조직이 담당하지 않는 영역은 AX팀이 담당하며, 일부는 외주·아웃소싱 병행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4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5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02E5-8599-2B54-75E7-4EF79AE3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A75949D-49EF-937C-2127-C03B79C85C74}"/>
              </a:ext>
            </a:extLst>
          </p:cNvPr>
          <p:cNvCxnSpPr>
            <a:cxnSpLocks/>
          </p:cNvCxnSpPr>
          <p:nvPr/>
        </p:nvCxnSpPr>
        <p:spPr>
          <a:xfrm>
            <a:off x="222002" y="476672"/>
            <a:ext cx="94619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>
            <a:extLst>
              <a:ext uri="{FF2B5EF4-FFF2-40B4-BE49-F238E27FC236}">
                <a16:creationId xmlns:a16="http://schemas.microsoft.com/office/drawing/2014/main" id="{B651AB26-684D-E71A-7396-082518F0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82" y="102419"/>
            <a:ext cx="92140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rgbClr val="000000">
                <a:satMod val="175000"/>
                <a:alpha val="40000"/>
              </a:srgbClr>
            </a:glow>
          </a:effectLst>
        </p:spPr>
        <p:txBody>
          <a:bodyPr wrap="square" anchor="ctr">
            <a:spAutoFit/>
          </a:bodyPr>
          <a:lstStyle/>
          <a:p>
            <a:pPr defTabSz="89858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[회의록] 전극설계팀 미팅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B11F326-9A78-B380-16CC-16D945EA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202974"/>
              </p:ext>
            </p:extLst>
          </p:nvPr>
        </p:nvGraphicFramePr>
        <p:xfrm>
          <a:off x="344488" y="692696"/>
          <a:ext cx="9217024" cy="4896000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117786457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6998259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101599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99811749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회의 내용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63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일정 및 투자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72194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내년 예산은 절반 이상 삭감 우려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0101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올해는 현황 파악, 요건 정의, 업체 풀 및 상용설비 검토에 집중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131432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2028년 12월 과천 2단계 입주 후 2029년 1월부터 Full automation lab 세팅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2029년 6월까지 시운전 완료 예정. 이후 셀프드라이빙 랩으로 전환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6678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현황 조사 및 맨파워 산출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249140"/>
                  </a:ext>
                </a:extLst>
              </a:tr>
              <a:tr h="360000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실험을 분석, 셀 제작, 전기화학평가의 3가지로 분류하여 팀별 단위 실험 조사중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38726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조사 항목: 소요시간, 월평균 횟수(최근 6개월~1년 평균), 외주·도급 여부. 이를 기반으로 M/M 산출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6076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실험 명칭이 상이하여 데이터 표준화 병행중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81410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DOE 도출이 어려운 상황이며, 13개 팀이 취급하지 않는 실험은 우선 제외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34841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2026년 대비 2030년 매출이 2.x배 증가하므로 과제 수도 유사하게 증가한다고 가정</a:t>
                      </a:r>
                      <a:br>
                        <a:rPr lang="en-US" alt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(현재 대비 약 2배 실험량 필요)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35939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에이전트를 통한 DOE 축소분과 자동화를 통한 인력 대체분을 구분하여 scale 조정 예정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43070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M/M를 비용으로 환산하여 ROI 산출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475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5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02E5-8599-2B54-75E7-4EF79AE3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A75949D-49EF-937C-2127-C03B79C85C74}"/>
              </a:ext>
            </a:extLst>
          </p:cNvPr>
          <p:cNvCxnSpPr>
            <a:cxnSpLocks/>
          </p:cNvCxnSpPr>
          <p:nvPr/>
        </p:nvCxnSpPr>
        <p:spPr>
          <a:xfrm>
            <a:off x="222002" y="476672"/>
            <a:ext cx="94619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>
            <a:extLst>
              <a:ext uri="{FF2B5EF4-FFF2-40B4-BE49-F238E27FC236}">
                <a16:creationId xmlns:a16="http://schemas.microsoft.com/office/drawing/2014/main" id="{B651AB26-684D-E71A-7396-082518F0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82" y="102419"/>
            <a:ext cx="92140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rgbClr val="000000">
                <a:satMod val="175000"/>
                <a:alpha val="40000"/>
              </a:srgbClr>
            </a:glow>
          </a:effectLst>
        </p:spPr>
        <p:txBody>
          <a:bodyPr wrap="square" anchor="ctr">
            <a:spAutoFit/>
          </a:bodyPr>
          <a:lstStyle/>
          <a:p>
            <a:pPr defTabSz="89858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[회의록] 전극설계팀 미팅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B11F326-9A78-B380-16CC-16D945EA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90498"/>
              </p:ext>
            </p:extLst>
          </p:nvPr>
        </p:nvGraphicFramePr>
        <p:xfrm>
          <a:off x="344488" y="692696"/>
          <a:ext cx="9217024" cy="4032000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117786457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6998259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101599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99811749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회의 내용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63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모노셀·스택셀 자동화 방향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72194"/>
                  </a:ext>
                </a:extLst>
              </a:tr>
              <a:tr h="5040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모노셀 기준으로 단면 코팅 및 플레이트형 진공건조 자동화를 우선 추진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양면 코팅은 R2R 및 배기 유틸리티 부담이 커 후순위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0101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스택셀은 파일럿 표준 전극을 활용하여 조립 자동화부터 추진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579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선행설비기술팀과 연계하고 폼팩터 표준화 협의 중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0466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사업부 검증 단계인 G3 이후(약 17주)는 건드리지 않는 것으로 정리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3635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개발센터 협업 범위 (의사결정 필요)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94331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모노셀 제작·평가 자동화 및 물성 측정 자동화에 개발센터가 참여할지 여부 확인 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7932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팀장 KPI에 반영되어야 인원 투입이 확실해질 것으로 예상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47862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설치 장소는 오창이 어렵고(출장 인원 제한) 대전 또는 과천이 적합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08738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개발센터 현황: 자동화 인력 0.5명 수준, 도급 수량 및 평가 채널 부족 VOC 존재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58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5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02E5-8599-2B54-75E7-4EF79AE3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A75949D-49EF-937C-2127-C03B79C85C74}"/>
              </a:ext>
            </a:extLst>
          </p:cNvPr>
          <p:cNvCxnSpPr>
            <a:cxnSpLocks/>
          </p:cNvCxnSpPr>
          <p:nvPr/>
        </p:nvCxnSpPr>
        <p:spPr>
          <a:xfrm>
            <a:off x="222002" y="476672"/>
            <a:ext cx="946199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4">
            <a:extLst>
              <a:ext uri="{FF2B5EF4-FFF2-40B4-BE49-F238E27FC236}">
                <a16:creationId xmlns:a16="http://schemas.microsoft.com/office/drawing/2014/main" id="{B651AB26-684D-E71A-7396-082518F0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82" y="102419"/>
            <a:ext cx="92140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rgbClr val="000000">
                <a:satMod val="175000"/>
                <a:alpha val="40000"/>
              </a:srgbClr>
            </a:glow>
          </a:effectLst>
        </p:spPr>
        <p:txBody>
          <a:bodyPr wrap="square" anchor="ctr">
            <a:spAutoFit/>
          </a:bodyPr>
          <a:lstStyle/>
          <a:p>
            <a:pPr defTabSz="89858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[회의록] 전극설계팀 미팅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B11F326-9A78-B380-16CC-16D945EA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47623"/>
              </p:ext>
            </p:extLst>
          </p:nvPr>
        </p:nvGraphicFramePr>
        <p:xfrm>
          <a:off x="344488" y="692696"/>
          <a:ext cx="9217024" cy="2376000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117786457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6998259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101599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99811749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회의 내용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503" marR="7503" marT="750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63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Agenda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개발센터 협업 범위 (의사결정 필요)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72194"/>
                  </a:ext>
                </a:extLst>
              </a:tr>
              <a:tr h="5040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af-ZA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접착력 자동화 장비 견적이 타발기 포함 약 20~25억, 제외 시 약 7억으로 상이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견적 누락 여부 확인 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0101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단순 반복 작업은 도급으로 전환하고 연구원은 신청만 하는 다크랩 운영팀 개념 검토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811876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3전극은 소재개발 범위에 미포함 (소재개발은 코인셀·바이셀로 리튬 플레이팅 확인)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모노셀 자동화와 병행 시 3전극 추가는 용이할 것으로 판단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1047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• 소재개발 조성과 파일럿·양산 조성이 달라 결과 연계에 한계가 있을 수 있음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629" marR="5629" marT="5629" marB="270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98" marR="7298" marT="7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28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54048"/>
      </p:ext>
    </p:extLst>
  </p:cSld>
  <p:clrMapOvr>
    <a:masterClrMapping/>
  </p:clrMapOvr>
</p:sld>
</file>

<file path=ppt/theme/theme1.xml><?xml version="1.0" encoding="utf-8"?>
<a:theme xmlns:a="http://schemas.openxmlformats.org/drawingml/2006/main" name="2_Blank">
  <a:themeElements>
    <a:clrScheme name="1_Blank 12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사용자 지정 2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wrap="none" lIns="90000" tIns="46800" rIns="90000" bIns="46800" anchor="ctr"/>
      <a:lstStyle>
        <a:defPPr marR="0" indent="-84138" algn="ctr" fontAlgn="base">
          <a:lnSpc>
            <a:spcPct val="105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>
            <a:tab pos="979488" algn="l"/>
          </a:tabLst>
          <a:defRPr kumimoji="1" sz="1200" dirty="0" smtClean="0">
            <a:solidFill>
              <a:srgbClr val="000000"/>
            </a:solidFill>
            <a:latin typeface="Arial Narrow" panose="020B0606020202030204" pitchFamily="34" charset="0"/>
            <a:ea typeface="LG스마트체 Light" panose="020B0600000101010101" pitchFamily="50" charset="-127"/>
          </a:defRPr>
        </a:defPPr>
      </a:lstStyle>
    </a:spDef>
    <a:lnDef>
      <a:spPr>
        <a:noFill/>
        <a:ln w="6350" cap="flat" cmpd="sng" algn="ctr">
          <a:solidFill>
            <a:srgbClr val="000000"/>
          </a:solidFill>
          <a:prstDash val="solid"/>
          <a:headEnd type="none"/>
          <a:tailEnd type="none"/>
        </a:ln>
        <a:effectLst/>
      </a:spPr>
      <a:bodyPr/>
      <a:lstStyle/>
    </a:lnDef>
  </a:objectDefaults>
  <a:extraClrSchemeLst>
    <a:extraClrScheme>
      <a:clrScheme name="1_Blank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839FE7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3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F8DFF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557FE7"/>
        </a:accent6>
        <a:hlink>
          <a:srgbClr val="96C5F8"/>
        </a:hlink>
        <a:folHlink>
          <a:srgbClr val="D8E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4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2960"/>
        </a:accent1>
        <a:accent2>
          <a:srgbClr val="0066CC"/>
        </a:accent2>
        <a:accent3>
          <a:srgbClr val="AAAAAA"/>
        </a:accent3>
        <a:accent4>
          <a:srgbClr val="DADADA"/>
        </a:accent4>
        <a:accent5>
          <a:srgbClr val="AAACB6"/>
        </a:accent5>
        <a:accent6>
          <a:srgbClr val="005CB9"/>
        </a:accent6>
        <a:hlink>
          <a:srgbClr val="91B0FF"/>
        </a:hlink>
        <a:folHlink>
          <a:srgbClr val="C7E0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5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E7B95C"/>
        </a:accent6>
        <a:hlink>
          <a:srgbClr val="4F8636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6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7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AAA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8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B4B085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9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0A2A0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10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174A7C"/>
        </a:accent1>
        <a:accent2>
          <a:srgbClr val="50A2A0"/>
        </a:accent2>
        <a:accent3>
          <a:srgbClr val="AAAAAA"/>
        </a:accent3>
        <a:accent4>
          <a:srgbClr val="DADADA"/>
        </a:accent4>
        <a:accent5>
          <a:srgbClr val="ABB1BF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21BB8A0E61E504993165374629C7DE6" ma:contentTypeVersion="8" ma:contentTypeDescription="새 문서를 만듭니다." ma:contentTypeScope="" ma:versionID="248330269d98a94abd21768bd52344e6">
  <xsd:schema xmlns:xsd="http://www.w3.org/2001/XMLSchema" xmlns:xs="http://www.w3.org/2001/XMLSchema" xmlns:p="http://schemas.microsoft.com/office/2006/metadata/properties" xmlns:ns2="4291d4a7-3253-45c3-ad86-7532f98e46de" targetNamespace="http://schemas.microsoft.com/office/2006/metadata/properties" ma:root="true" ma:fieldsID="9a97343de284b7c40ecdee33eeaa7077" ns2:_="">
    <xsd:import namespace="4291d4a7-3253-45c3-ad86-7532f98e46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91d4a7-3253-45c3-ad86-7532f98e46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8CF23A-BF72-4CC7-979A-3EFBCDBA9A53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4291d4a7-3253-45c3-ad86-7532f98e46d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EEAA0CB-D5C5-4C25-B373-213393C3B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91d4a7-3253-45c3-ad86-7532f98e46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249957-15F3-4ECA-918B-BF927BEA9BD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102260</TotalTime>
  <Words>796</Words>
  <Application>Microsoft Office PowerPoint</Application>
  <PresentationFormat>A4 용지(210x297mm)</PresentationFormat>
  <Paragraphs>119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LG스마트체 Regular</vt:lpstr>
      <vt:lpstr>굴림</vt:lpstr>
      <vt:lpstr>Arial</vt:lpstr>
      <vt:lpstr>Arial Narrow</vt:lpstr>
      <vt:lpstr>Wingdings</vt:lpstr>
      <vt:lpstr>맑은 고딕</vt:lpstr>
      <vt:lpstr>2_Blank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이정훈(JUNGHOON LEE)[junghoon.2]/책임/Cell선행.소재개발AX팀</cp:lastModifiedBy>
  <cp:revision>4066</cp:revision>
  <cp:lastPrinted>2024-11-21T04:22:39Z</cp:lastPrinted>
  <dcterms:created xsi:type="dcterms:W3CDTF">2014-11-28T02:29:25Z</dcterms:created>
  <dcterms:modified xsi:type="dcterms:W3CDTF">2026-10-06T08:02:45Z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0x010100F21BB8A0E61E504993165374629C7DE6</vt:lpwstr>
  </property>
</Properties>
</file>