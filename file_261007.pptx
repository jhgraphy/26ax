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6" r:id="rId9"/>
    <p:sldId id="263" r:id="rId10"/>
    <p:sldId id="277" r:id="rId11"/>
    <p:sldId id="274" r:id="rId12"/>
    <p:sldId id="273" r:id="rId13"/>
    <p:sldId id="278" r:id="rId14"/>
    <p:sldId id="279" r:id="rId15"/>
    <p:sldId id="280" r:id="rId16"/>
    <p:sldId id="265" r:id="rId17"/>
    <p:sldId id="281" r:id="rId18"/>
    <p:sldId id="282" r:id="rId19"/>
    <p:sldId id="283" r:id="rId20"/>
    <p:sldId id="284" r:id="rId21"/>
    <p:sldId id="285" r:id="rId22"/>
    <p:sldId id="286" r:id="rId23"/>
    <p:sldId id="287" r:id="rId24"/>
  </p:sldIdLst>
  <p:sldSz cx="9144000" cy="6858000" type="screen4x3"/>
  <p:notesSz cx="6858000" cy="9144000"/>
  <p:embeddedFontLst>
    <p:embeddedFont>
      <p:font typeface="Malgun Gothic" panose="020B0503020000020004" pitchFamily="50" charset="-127"/>
      <p:regular r:id="rId26"/>
      <p:bold r:id="rId27"/>
    </p:embeddedFont>
    <p:embeddedFont>
      <p:font typeface="Malgun Gothic" panose="020B0503020000020004" pitchFamily="50" charset="-127"/>
      <p:regular r:id="rId26"/>
      <p:bold r:id="rId27"/>
    </p:embeddedFont>
    <p:embeddedFont>
      <p:font typeface="Arial Narrow" panose="020B0606020202030204" pitchFamily="34" charset="0"/>
      <p:regular r:id="rId28"/>
      <p:bold r:id="rId29"/>
      <p:italic r:id="rId30"/>
      <p:boldItalic r:id="rId31"/>
    </p:embeddedFont>
    <p:embeddedFont>
      <p:font typeface="Noto Sans KR" panose="020B0200000000000000" pitchFamily="50" charset="-127"/>
      <p:regular r:id="rId32"/>
      <p:bold r:id="rId3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실험자동화 아키텍처 기획안" id="{C07572E8-8036-40F6-B18A-60F0E84B82D8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미들웨어 &amp; 하네스 엔지니어링_'260918" id="{F580ECB9-6109-4AFB-8D18-9547577502BB}">
          <p14:sldIdLst>
            <p14:sldId id="276"/>
            <p14:sldId id="263"/>
            <p14:sldId id="277"/>
            <p14:sldId id="274"/>
            <p14:sldId id="273"/>
            <p14:sldId id="278"/>
            <p14:sldId id="279"/>
            <p14:sldId id="280"/>
            <p14:sldId id="265"/>
          </p14:sldIdLst>
        </p14:section>
        <p14:section name="클로드 결과" id="{FDE73CB7-E01E-4295-BED7-4284DBCF6C21}">
          <p14:sldIdLst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1470" y="78"/>
      </p:cViewPr>
      <p:guideLst>
        <p:guide orient="horz" pos="216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84B7A2-D105-44A4-98B7-6BDAF7FA8BD9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1BF1B0-7E73-42D2-9695-59AEF27D5E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0061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6"/>
            <a:ext cx="58293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4406901"/>
            <a:ext cx="58293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2906713"/>
            <a:ext cx="58293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1"/>
            <a:ext cx="302895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1"/>
            <a:ext cx="302895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1535113"/>
            <a:ext cx="3031331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174875"/>
            <a:ext cx="3031331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1"/>
            <a:ext cx="3833813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1"/>
            <a:ext cx="225623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9"/>
            <a:ext cx="15430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9"/>
            <a:ext cx="45148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ARK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680960" cy="1950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600" b="1" dirty="0">
                <a:solidFill>
                  <a:srgbClr val="F3F4EF"/>
                </a:solidFill>
              </a:defRPr>
            </a:lvl1pPr>
          </a:lstStyle>
          <a:p>
            <a:pPr marL="0" indent="0">
              <a:buNone/>
            </a:pP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023360"/>
            <a:ext cx="76809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C9D3DF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418722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bg>
      <p:bgPr>
        <a:solidFill>
          <a:srgbClr val="F3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26720"/>
            <a:ext cx="8046720" cy="853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b="1" dirty="0">
                <a:solidFill>
                  <a:srgbClr val="0F1B2D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6400800"/>
            <a:ext cx="800000" cy="4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018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1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1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1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1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474778"/>
            <a:ext cx="428625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Rounded Rectangle 2"/>
          <p:cNvSpPr/>
          <p:nvPr/>
        </p:nvSpPr>
        <p:spPr>
          <a:xfrm>
            <a:off x="457200" y="2354647"/>
            <a:ext cx="1035509" cy="200025"/>
          </a:xfrm>
          <a:prstGeom prst="roundRect">
            <a:avLst>
              <a:gd name="adj" fmla="val 21428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TextBox 3"/>
          <p:cNvSpPr txBox="1"/>
          <p:nvPr/>
        </p:nvSpPr>
        <p:spPr>
          <a:xfrm>
            <a:off x="457201" y="2726122"/>
            <a:ext cx="4409027" cy="897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3510"/>
              </a:lnSpc>
            </a:pPr>
            <a:r>
              <a:rPr sz="2925" b="1">
                <a:solidFill>
                  <a:srgbClr val="F8FAFC"/>
                </a:solidFill>
                <a:latin typeface="Noto Sans KR"/>
              </a:rPr>
              <a:t>실험자동화 아키텍처</a:t>
            </a:r>
            <a:r>
              <a:rPr sz="1350"/>
              <a:t>
</a:t>
            </a:r>
            <a:r>
              <a:rPr sz="2925" b="1">
                <a:solidFill>
                  <a:srgbClr val="F8FAFC"/>
                </a:solidFill>
                <a:latin typeface="Noto Sans KR"/>
              </a:rPr>
              <a:t> 개발 기획 및 마스터 플랜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60403"/>
            <a:ext cx="5072063" cy="4159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688"/>
              </a:lnSpc>
            </a:pPr>
            <a:r>
              <a:rPr sz="1125">
                <a:solidFill>
                  <a:srgbClr val="94A3B8"/>
                </a:solidFill>
                <a:latin typeface="Noto Sans KR"/>
              </a:rPr>
              <a:t>물리적 하드웨어 제어부터 지능형 AI 에이전트까지 유기적으로 연계된 4-Tier 통합 아키텍처 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213" y="2397509"/>
            <a:ext cx="906921" cy="1212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8" b="1">
                <a:solidFill>
                  <a:srgbClr val="FFFFFF"/>
                </a:solidFill>
                <a:latin typeface="Noto Sans KR"/>
              </a:rPr>
              <a:t>R&amp;D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8434" y="2390366"/>
            <a:ext cx="1652697" cy="1212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8">
                <a:solidFill>
                  <a:srgbClr val="94A3B8"/>
                </a:solidFill>
                <a:latin typeface="Noto Sans KR"/>
              </a:rPr>
              <a:t>AI 기반 자율 실험실 (Self-Driving Lab)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1953034"/>
            <a:ext cx="4000500" cy="3647666"/>
          </a:xfrm>
          <a:prstGeom prst="roundRect">
            <a:avLst>
              <a:gd name="adj" fmla="val 31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Rounded Rectangle 2"/>
          <p:cNvSpPr/>
          <p:nvPr/>
        </p:nvSpPr>
        <p:spPr>
          <a:xfrm>
            <a:off x="4686300" y="1953034"/>
            <a:ext cx="4000500" cy="3647666"/>
          </a:xfrm>
          <a:prstGeom prst="roundRect">
            <a:avLst>
              <a:gd name="adj" fmla="val 31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519" y="3211785"/>
            <a:ext cx="342900" cy="342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619" y="3211785"/>
            <a:ext cx="342900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381" y="3311798"/>
            <a:ext cx="111174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6481" y="3311798"/>
            <a:ext cx="111174" cy="1428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257301"/>
            <a:ext cx="8301038" cy="1124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31" b="1">
                <a:solidFill>
                  <a:srgbClr val="2563EB"/>
                </a:solidFill>
                <a:latin typeface="Noto Sans KR"/>
              </a:rPr>
              <a:t>Background &amp;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1" y="1421606"/>
            <a:ext cx="1673535" cy="2666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159"/>
              </a:lnSpc>
            </a:pPr>
            <a:r>
              <a:rPr b="1">
                <a:solidFill>
                  <a:srgbClr val="0F172A"/>
                </a:solidFill>
                <a:latin typeface="Noto Sans KR"/>
              </a:rPr>
              <a:t>추진 배경 및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1519" y="3697560"/>
            <a:ext cx="1484381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>
                <a:solidFill>
                  <a:srgbClr val="0F172A"/>
                </a:solidFill>
                <a:latin typeface="Noto Sans KR"/>
              </a:rPr>
              <a:t>전통적 R&amp;D의 한계 극복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1519" y="3976166"/>
            <a:ext cx="3543300" cy="3416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440"/>
              </a:lnSpc>
            </a:pPr>
            <a:r>
              <a:rPr sz="900">
                <a:solidFill>
                  <a:srgbClr val="475569"/>
                </a:solidFill>
                <a:latin typeface="Noto Sans KR"/>
              </a:rPr>
              <a:t>반복 실험의 수작업 의존성, 데이터 파편화 및 안전사고 리스크 해소를 위한 전면적 자동화 체계 필요.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0619" y="3697560"/>
            <a:ext cx="1593385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>
                <a:solidFill>
                  <a:srgbClr val="0F172A"/>
                </a:solidFill>
                <a:latin typeface="Noto Sans KR"/>
              </a:rPr>
              <a:t>4-Tier 통합 아키텍처 구축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0619" y="3976167"/>
            <a:ext cx="3543300" cy="3416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440"/>
              </a:lnSpc>
            </a:pPr>
            <a:r>
              <a:rPr sz="900">
                <a:solidFill>
                  <a:srgbClr val="475569"/>
                </a:solidFill>
                <a:latin typeface="Noto Sans KR"/>
              </a:rPr>
              <a:t>하드웨어부터 AI 에이전트까지 끊김 없는 데이터 파이프라인 및 폐루프(Closed-loop) 자율 실험 환경 구현.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369493"/>
            <a:ext cx="8229600" cy="592931"/>
          </a:xfrm>
          <a:prstGeom prst="roundRect">
            <a:avLst>
              <a:gd name="adj" fmla="val 9638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Rounded Rectangle 2"/>
          <p:cNvSpPr/>
          <p:nvPr/>
        </p:nvSpPr>
        <p:spPr>
          <a:xfrm>
            <a:off x="457200" y="3076724"/>
            <a:ext cx="8229600" cy="607219"/>
          </a:xfrm>
          <a:prstGeom prst="roundRect">
            <a:avLst>
              <a:gd name="adj" fmla="val 941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Rounded Rectangle 3"/>
          <p:cNvSpPr/>
          <p:nvPr/>
        </p:nvSpPr>
        <p:spPr>
          <a:xfrm>
            <a:off x="457200" y="3798243"/>
            <a:ext cx="8229600" cy="607219"/>
          </a:xfrm>
          <a:prstGeom prst="roundRect">
            <a:avLst>
              <a:gd name="adj" fmla="val 941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Rounded Rectangle 4"/>
          <p:cNvSpPr/>
          <p:nvPr/>
        </p:nvSpPr>
        <p:spPr>
          <a:xfrm>
            <a:off x="457200" y="4519761"/>
            <a:ext cx="8229600" cy="607219"/>
          </a:xfrm>
          <a:prstGeom prst="roundRect">
            <a:avLst>
              <a:gd name="adj" fmla="val 941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" name="Rectangle 5"/>
          <p:cNvSpPr/>
          <p:nvPr/>
        </p:nvSpPr>
        <p:spPr>
          <a:xfrm>
            <a:off x="457200" y="2369493"/>
            <a:ext cx="35719" cy="592931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Rounded Rectangle 6"/>
          <p:cNvSpPr/>
          <p:nvPr/>
        </p:nvSpPr>
        <p:spPr>
          <a:xfrm>
            <a:off x="7861474" y="2583805"/>
            <a:ext cx="653876" cy="164306"/>
          </a:xfrm>
          <a:prstGeom prst="roundRect">
            <a:avLst>
              <a:gd name="adj" fmla="val 17391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Rectangle 7"/>
          <p:cNvSpPr/>
          <p:nvPr/>
        </p:nvSpPr>
        <p:spPr>
          <a:xfrm>
            <a:off x="457200" y="3676799"/>
            <a:ext cx="8229600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Rectangle 8"/>
          <p:cNvSpPr/>
          <p:nvPr/>
        </p:nvSpPr>
        <p:spPr>
          <a:xfrm>
            <a:off x="457200" y="3076724"/>
            <a:ext cx="8229600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Rectangle 9"/>
          <p:cNvSpPr/>
          <p:nvPr/>
        </p:nvSpPr>
        <p:spPr>
          <a:xfrm>
            <a:off x="457200" y="3076724"/>
            <a:ext cx="35719" cy="6072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Rectangle 10"/>
          <p:cNvSpPr/>
          <p:nvPr/>
        </p:nvSpPr>
        <p:spPr>
          <a:xfrm>
            <a:off x="8679657" y="3076724"/>
            <a:ext cx="7144" cy="6072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Rounded Rectangle 11"/>
          <p:cNvSpPr/>
          <p:nvPr/>
        </p:nvSpPr>
        <p:spPr>
          <a:xfrm>
            <a:off x="7670713" y="3298180"/>
            <a:ext cx="837493" cy="285750"/>
          </a:xfrm>
          <a:prstGeom prst="roundRect">
            <a:avLst>
              <a:gd name="adj" fmla="val 1739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Rectangle 12"/>
          <p:cNvSpPr/>
          <p:nvPr/>
        </p:nvSpPr>
        <p:spPr>
          <a:xfrm>
            <a:off x="457200" y="4398318"/>
            <a:ext cx="8229600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Rectangle 13"/>
          <p:cNvSpPr/>
          <p:nvPr/>
        </p:nvSpPr>
        <p:spPr>
          <a:xfrm>
            <a:off x="457200" y="3798243"/>
            <a:ext cx="8229600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" name="Rectangle 14"/>
          <p:cNvSpPr/>
          <p:nvPr/>
        </p:nvSpPr>
        <p:spPr>
          <a:xfrm>
            <a:off x="457200" y="3798243"/>
            <a:ext cx="35719" cy="6072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Rectangle 15"/>
          <p:cNvSpPr/>
          <p:nvPr/>
        </p:nvSpPr>
        <p:spPr>
          <a:xfrm>
            <a:off x="8679657" y="3798243"/>
            <a:ext cx="7144" cy="6072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" name="Rounded Rectangle 16"/>
          <p:cNvSpPr/>
          <p:nvPr/>
        </p:nvSpPr>
        <p:spPr>
          <a:xfrm>
            <a:off x="7663569" y="4019699"/>
            <a:ext cx="844637" cy="264320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" name="Rectangle 17"/>
          <p:cNvSpPr/>
          <p:nvPr/>
        </p:nvSpPr>
        <p:spPr>
          <a:xfrm>
            <a:off x="457200" y="5119836"/>
            <a:ext cx="8229600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" name="Rectangle 18"/>
          <p:cNvSpPr/>
          <p:nvPr/>
        </p:nvSpPr>
        <p:spPr>
          <a:xfrm>
            <a:off x="457200" y="4519761"/>
            <a:ext cx="8229600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0" name="Rectangle 19"/>
          <p:cNvSpPr/>
          <p:nvPr/>
        </p:nvSpPr>
        <p:spPr>
          <a:xfrm>
            <a:off x="457200" y="4519761"/>
            <a:ext cx="35719" cy="6072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1" name="Rectangle 20"/>
          <p:cNvSpPr/>
          <p:nvPr/>
        </p:nvSpPr>
        <p:spPr>
          <a:xfrm>
            <a:off x="8679657" y="4519761"/>
            <a:ext cx="7144" cy="6072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2" name="Rounded Rectangle 21"/>
          <p:cNvSpPr/>
          <p:nvPr/>
        </p:nvSpPr>
        <p:spPr>
          <a:xfrm>
            <a:off x="7745946" y="4741218"/>
            <a:ext cx="762260" cy="164306"/>
          </a:xfrm>
          <a:prstGeom prst="roundRect">
            <a:avLst>
              <a:gd name="adj" fmla="val 1739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" name="TextBox 22"/>
          <p:cNvSpPr txBox="1"/>
          <p:nvPr/>
        </p:nvSpPr>
        <p:spPr>
          <a:xfrm>
            <a:off x="457200" y="1257301"/>
            <a:ext cx="8301038" cy="1124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31" b="1">
                <a:solidFill>
                  <a:srgbClr val="2563EB"/>
                </a:solidFill>
                <a:latin typeface="Noto Sans KR"/>
              </a:rPr>
              <a:t>Architecture Overview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1" y="1421606"/>
            <a:ext cx="3587521" cy="26577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159"/>
              </a:lnSpc>
            </a:pPr>
            <a:r>
              <a:rPr lang="en-US" b="1" dirty="0">
                <a:solidFill>
                  <a:srgbClr val="0F172A"/>
                </a:solidFill>
                <a:latin typeface="Noto Sans KR"/>
              </a:rPr>
              <a:t>Physical</a:t>
            </a:r>
            <a:r>
              <a:rPr lang="ko-KR" altLang="en-US" b="1" dirty="0">
                <a:solidFill>
                  <a:srgbClr val="0F172A"/>
                </a:solidFill>
                <a:latin typeface="Noto Sans KR"/>
              </a:rPr>
              <a:t> </a:t>
            </a:r>
            <a:r>
              <a:rPr lang="en-US" altLang="ko-KR" b="1" dirty="0">
                <a:solidFill>
                  <a:srgbClr val="0F172A"/>
                </a:solidFill>
                <a:latin typeface="Noto Sans KR"/>
              </a:rPr>
              <a:t>AI</a:t>
            </a:r>
            <a:r>
              <a:rPr lang="ko-KR" altLang="en-US" b="1" dirty="0">
                <a:solidFill>
                  <a:srgbClr val="0F172A"/>
                </a:solidFill>
                <a:latin typeface="Noto Sans KR"/>
              </a:rPr>
              <a:t> 아키텍처</a:t>
            </a:r>
            <a:r>
              <a:rPr lang="en-US" altLang="ko-KR" b="1" dirty="0">
                <a:solidFill>
                  <a:srgbClr val="0F172A"/>
                </a:solidFill>
                <a:latin typeface="Noto Sans KR"/>
              </a:rPr>
              <a:t>_</a:t>
            </a:r>
            <a:r>
              <a:rPr b="1" dirty="0">
                <a:solidFill>
                  <a:srgbClr val="0F172A"/>
                </a:solidFill>
                <a:latin typeface="Noto Sans KR"/>
              </a:rPr>
              <a:t>4계층 </a:t>
            </a:r>
            <a:r>
              <a:rPr b="1" dirty="0" err="1">
                <a:solidFill>
                  <a:srgbClr val="0F172A"/>
                </a:solidFill>
                <a:latin typeface="Noto Sans KR"/>
              </a:rPr>
              <a:t>구조도</a:t>
            </a:r>
            <a:endParaRPr b="1" dirty="0">
              <a:solidFill>
                <a:srgbClr val="0F172A"/>
              </a:solidFill>
              <a:latin typeface="Noto Sans KR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932911" y="2612380"/>
            <a:ext cx="582439" cy="1124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31" b="1">
                <a:solidFill>
                  <a:srgbClr val="1E40AF"/>
                </a:solidFill>
                <a:latin typeface="Noto Sans KR"/>
              </a:rPr>
              <a:t>Intelligence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65257" y="3326755"/>
            <a:ext cx="742949" cy="224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731" b="1" dirty="0">
                <a:solidFill>
                  <a:srgbClr val="0369A1"/>
                </a:solidFill>
                <a:latin typeface="Noto Sans KR"/>
              </a:rPr>
              <a:t>Harness ENG</a:t>
            </a:r>
            <a:r>
              <a:rPr sz="731" b="1" dirty="0">
                <a:solidFill>
                  <a:srgbClr val="0369A1"/>
                </a:solidFill>
                <a:latin typeface="Noto Sans KR"/>
              </a:rPr>
              <a:t> &amp; Safety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35007" y="4048274"/>
            <a:ext cx="666045" cy="224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731" b="1" dirty="0" err="1">
                <a:solidFill>
                  <a:srgbClr val="334155"/>
                </a:solidFill>
                <a:latin typeface="Noto Sans KR"/>
              </a:rPr>
              <a:t>Intergration</a:t>
            </a:r>
            <a:r>
              <a:rPr lang="ko-KR" altLang="en-US" sz="731" b="1" dirty="0">
                <a:solidFill>
                  <a:srgbClr val="334155"/>
                </a:solidFill>
                <a:latin typeface="Noto Sans KR"/>
              </a:rPr>
              <a:t> </a:t>
            </a:r>
            <a:r>
              <a:rPr lang="en-US" altLang="ko-KR" sz="731" b="1" dirty="0">
                <a:solidFill>
                  <a:srgbClr val="334155"/>
                </a:solidFill>
                <a:latin typeface="Noto Sans KR"/>
              </a:rPr>
              <a:t>Interface</a:t>
            </a:r>
            <a:endParaRPr sz="731" b="1" dirty="0">
              <a:solidFill>
                <a:srgbClr val="334155"/>
              </a:solidFill>
              <a:latin typeface="Noto Sans KR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817383" y="4769793"/>
            <a:ext cx="690823" cy="1124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31" b="1">
                <a:solidFill>
                  <a:srgbClr val="0F172A"/>
                </a:solidFill>
                <a:latin typeface="Noto Sans KR"/>
              </a:rPr>
              <a:t>Physical 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369" y="2590949"/>
            <a:ext cx="464871" cy="1558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3" b="1">
                <a:solidFill>
                  <a:srgbClr val="2563EB"/>
                </a:solidFill>
                <a:latin typeface="Noto Sans KR"/>
              </a:rPr>
              <a:t>Layer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369" y="3305324"/>
            <a:ext cx="464871" cy="1558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3" b="1">
                <a:solidFill>
                  <a:srgbClr val="0F172A"/>
                </a:solidFill>
                <a:latin typeface="Noto Sans KR"/>
              </a:rPr>
              <a:t>Layer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369" y="4026843"/>
            <a:ext cx="464871" cy="1558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3" b="1">
                <a:solidFill>
                  <a:srgbClr val="64748B"/>
                </a:solidFill>
                <a:latin typeface="Noto Sans KR"/>
              </a:rPr>
              <a:t>Layer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4369" y="4748361"/>
            <a:ext cx="464871" cy="1558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3" b="1">
                <a:solidFill>
                  <a:srgbClr val="334155"/>
                </a:solidFill>
                <a:latin typeface="Noto Sans KR"/>
              </a:rPr>
              <a:t>Layer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8744" y="2512368"/>
            <a:ext cx="910506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dirty="0">
                <a:solidFill>
                  <a:srgbClr val="0F172A"/>
                </a:solidFill>
                <a:latin typeface="Noto Sans KR"/>
              </a:rPr>
              <a:t>AI </a:t>
            </a:r>
            <a:r>
              <a:rPr sz="900" b="1" dirty="0" err="1">
                <a:solidFill>
                  <a:srgbClr val="0F172A"/>
                </a:solidFill>
                <a:latin typeface="Noto Sans KR"/>
              </a:rPr>
              <a:t>에이전트</a:t>
            </a:r>
            <a:r>
              <a:rPr sz="900" b="1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900" b="1" dirty="0" err="1">
                <a:solidFill>
                  <a:srgbClr val="0F172A"/>
                </a:solidFill>
                <a:latin typeface="Noto Sans KR"/>
              </a:rPr>
              <a:t>레이어</a:t>
            </a:r>
            <a:endParaRPr sz="900" b="1" dirty="0">
              <a:solidFill>
                <a:srgbClr val="0F172A"/>
              </a:solidFill>
              <a:latin typeface="Noto Sans KR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378744" y="2690961"/>
            <a:ext cx="2183290" cy="1212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8" dirty="0" err="1">
                <a:solidFill>
                  <a:srgbClr val="475569"/>
                </a:solidFill>
                <a:latin typeface="Noto Sans KR"/>
              </a:rPr>
              <a:t>실험</a:t>
            </a:r>
            <a:r>
              <a:rPr sz="788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788" dirty="0" err="1">
                <a:solidFill>
                  <a:srgbClr val="475569"/>
                </a:solidFill>
                <a:latin typeface="Noto Sans KR"/>
              </a:rPr>
              <a:t>계획</a:t>
            </a:r>
            <a:r>
              <a:rPr sz="788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788" dirty="0" err="1">
                <a:solidFill>
                  <a:srgbClr val="475569"/>
                </a:solidFill>
                <a:latin typeface="Noto Sans KR"/>
              </a:rPr>
              <a:t>수립</a:t>
            </a:r>
            <a:r>
              <a:rPr sz="788" dirty="0">
                <a:solidFill>
                  <a:srgbClr val="475569"/>
                </a:solidFill>
                <a:latin typeface="Noto Sans KR"/>
              </a:rPr>
              <a:t>(DoE), </a:t>
            </a:r>
            <a:r>
              <a:rPr sz="788" dirty="0" err="1">
                <a:solidFill>
                  <a:srgbClr val="475569"/>
                </a:solidFill>
                <a:latin typeface="Noto Sans KR"/>
              </a:rPr>
              <a:t>가상</a:t>
            </a:r>
            <a:r>
              <a:rPr sz="788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788" dirty="0" err="1">
                <a:solidFill>
                  <a:srgbClr val="475569"/>
                </a:solidFill>
                <a:latin typeface="Noto Sans KR"/>
              </a:rPr>
              <a:t>검증</a:t>
            </a:r>
            <a:r>
              <a:rPr sz="788" dirty="0">
                <a:solidFill>
                  <a:srgbClr val="475569"/>
                </a:solidFill>
                <a:latin typeface="Noto Sans KR"/>
              </a:rPr>
              <a:t> 및 </a:t>
            </a:r>
            <a:r>
              <a:rPr sz="788" dirty="0" err="1">
                <a:solidFill>
                  <a:srgbClr val="475569"/>
                </a:solidFill>
                <a:latin typeface="Noto Sans KR"/>
              </a:rPr>
              <a:t>측정</a:t>
            </a:r>
            <a:r>
              <a:rPr sz="788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788" dirty="0" err="1">
                <a:solidFill>
                  <a:srgbClr val="475569"/>
                </a:solidFill>
                <a:latin typeface="Noto Sans KR"/>
              </a:rPr>
              <a:t>데이터</a:t>
            </a:r>
            <a:r>
              <a:rPr sz="788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788" dirty="0" err="1">
                <a:solidFill>
                  <a:srgbClr val="475569"/>
                </a:solidFill>
                <a:latin typeface="Noto Sans KR"/>
              </a:rPr>
              <a:t>분석</a:t>
            </a:r>
            <a:endParaRPr sz="788" dirty="0">
              <a:solidFill>
                <a:srgbClr val="475569"/>
              </a:solidFill>
              <a:latin typeface="Noto Sans KR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378744" y="3226743"/>
            <a:ext cx="2032608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Noto Sans KR"/>
              </a:rPr>
              <a:t>오케스트레이션 및 안전 게이트웨이 레이어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8744" y="3405336"/>
            <a:ext cx="4725653" cy="1212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altLang="ko-KR" sz="788" dirty="0" err="1">
                <a:solidFill>
                  <a:srgbClr val="475569"/>
                </a:solidFill>
                <a:latin typeface="Noto Sans KR"/>
              </a:rPr>
              <a:t>Excution</a:t>
            </a:r>
            <a:r>
              <a:rPr lang="ko-KR" altLang="en-US" sz="788" dirty="0">
                <a:solidFill>
                  <a:srgbClr val="475569"/>
                </a:solidFill>
                <a:latin typeface="Noto Sans KR"/>
              </a:rPr>
              <a:t> </a:t>
            </a:r>
            <a:r>
              <a:rPr lang="en-US" altLang="ko-KR" sz="788" dirty="0">
                <a:solidFill>
                  <a:srgbClr val="475569"/>
                </a:solidFill>
                <a:latin typeface="Noto Sans KR"/>
              </a:rPr>
              <a:t>Planning,</a:t>
            </a:r>
            <a:r>
              <a:rPr lang="ko-KR" altLang="en-US" sz="788" dirty="0">
                <a:solidFill>
                  <a:srgbClr val="475569"/>
                </a:solidFill>
                <a:latin typeface="Noto Sans KR"/>
              </a:rPr>
              <a:t> </a:t>
            </a:r>
            <a:r>
              <a:rPr lang="en-US" altLang="ko-KR" sz="788" dirty="0">
                <a:solidFill>
                  <a:srgbClr val="475569"/>
                </a:solidFill>
                <a:latin typeface="Noto Sans KR"/>
              </a:rPr>
              <a:t>Control &amp; Monitoring, Device </a:t>
            </a:r>
            <a:r>
              <a:rPr lang="en-US" altLang="ko-KR" sz="788" dirty="0" err="1">
                <a:solidFill>
                  <a:srgbClr val="475569"/>
                </a:solidFill>
                <a:latin typeface="Noto Sans KR"/>
              </a:rPr>
              <a:t>Communiation</a:t>
            </a:r>
            <a:r>
              <a:rPr lang="en-US" altLang="ko-KR" sz="788" dirty="0">
                <a:solidFill>
                  <a:srgbClr val="475569"/>
                </a:solidFill>
                <a:latin typeface="Noto Sans KR"/>
              </a:rPr>
              <a:t>  /   </a:t>
            </a:r>
            <a:r>
              <a:rPr sz="788" dirty="0">
                <a:solidFill>
                  <a:srgbClr val="475569"/>
                </a:solidFill>
                <a:latin typeface="Noto Sans KR"/>
              </a:rPr>
              <a:t>Tool Schema, </a:t>
            </a:r>
            <a:r>
              <a:rPr sz="788" dirty="0" err="1">
                <a:solidFill>
                  <a:srgbClr val="475569"/>
                </a:solidFill>
                <a:latin typeface="Noto Sans KR"/>
              </a:rPr>
              <a:t>안전</a:t>
            </a:r>
            <a:r>
              <a:rPr sz="788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788" dirty="0" err="1">
                <a:solidFill>
                  <a:srgbClr val="475569"/>
                </a:solidFill>
                <a:latin typeface="Noto Sans KR"/>
              </a:rPr>
              <a:t>규칙</a:t>
            </a:r>
            <a:r>
              <a:rPr sz="788" dirty="0">
                <a:solidFill>
                  <a:srgbClr val="475569"/>
                </a:solidFill>
                <a:latin typeface="Noto Sans KR"/>
              </a:rPr>
              <a:t>(Interlock)</a:t>
            </a:r>
            <a:r>
              <a:rPr lang="en-US" sz="788" dirty="0">
                <a:solidFill>
                  <a:srgbClr val="475569"/>
                </a:solidFill>
                <a:latin typeface="Noto Sans KR"/>
              </a:rPr>
              <a:t>, </a:t>
            </a:r>
            <a:endParaRPr sz="788" dirty="0">
              <a:solidFill>
                <a:srgbClr val="475569"/>
              </a:solidFill>
              <a:latin typeface="Noto Sans KR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378744" y="3948262"/>
            <a:ext cx="1154162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Noto Sans KR"/>
              </a:rPr>
              <a:t>미들웨어 및 통신 레이어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8744" y="4126855"/>
            <a:ext cx="4504438" cy="1212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788" dirty="0">
                <a:solidFill>
                  <a:srgbClr val="47556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Interface Standard, Device Adapter, Status &amp; Event Model  / </a:t>
            </a:r>
            <a:r>
              <a:rPr sz="788" dirty="0">
                <a:solidFill>
                  <a:srgbClr val="47556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788" dirty="0">
                <a:solidFill>
                  <a:srgbClr val="47556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표준 프로토콜</a:t>
            </a:r>
            <a:r>
              <a:rPr lang="en-US" altLang="ko-KR" sz="788" dirty="0">
                <a:solidFill>
                  <a:srgbClr val="47556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(OPC UA, MQTT, ROS2), </a:t>
            </a:r>
            <a:r>
              <a:rPr lang="ko-KR" altLang="en-US" sz="788" dirty="0">
                <a:solidFill>
                  <a:srgbClr val="47556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장비 </a:t>
            </a:r>
            <a:r>
              <a:rPr lang="en-US" altLang="ko-KR" sz="788" dirty="0">
                <a:solidFill>
                  <a:srgbClr val="47556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API </a:t>
            </a:r>
            <a:r>
              <a:rPr lang="ko-KR" altLang="en-US" sz="788" dirty="0">
                <a:solidFill>
                  <a:srgbClr val="47556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드라이버 </a:t>
            </a:r>
            <a:endParaRPr sz="788" dirty="0">
              <a:solidFill>
                <a:srgbClr val="475569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378744" y="4669780"/>
            <a:ext cx="1154162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Noto Sans KR"/>
              </a:rPr>
              <a:t>하드웨어 및 필드 레이어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8744" y="4848374"/>
            <a:ext cx="3783087" cy="1212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788" dirty="0">
                <a:solidFill>
                  <a:srgbClr val="475569"/>
                </a:solidFill>
                <a:latin typeface="Noto Sans KR"/>
              </a:rPr>
              <a:t>Full Automation Lab  /  </a:t>
            </a:r>
            <a:r>
              <a:rPr sz="788" dirty="0" err="1">
                <a:solidFill>
                  <a:srgbClr val="475569"/>
                </a:solidFill>
                <a:latin typeface="Noto Sans KR"/>
              </a:rPr>
              <a:t>실험</a:t>
            </a:r>
            <a:r>
              <a:rPr lang="en-US" sz="788" dirty="0" err="1">
                <a:solidFill>
                  <a:srgbClr val="475569"/>
                </a:solidFill>
                <a:latin typeface="Noto Sans KR"/>
              </a:rPr>
              <a:t>&amp;</a:t>
            </a:r>
            <a:r>
              <a:rPr sz="788" dirty="0" err="1">
                <a:solidFill>
                  <a:srgbClr val="475569"/>
                </a:solidFill>
                <a:latin typeface="Noto Sans KR"/>
              </a:rPr>
              <a:t>분석</a:t>
            </a:r>
            <a:r>
              <a:rPr sz="788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788" dirty="0" err="1">
                <a:solidFill>
                  <a:srgbClr val="475569"/>
                </a:solidFill>
                <a:latin typeface="Noto Sans KR"/>
              </a:rPr>
              <a:t>설비</a:t>
            </a:r>
            <a:r>
              <a:rPr sz="788" dirty="0">
                <a:solidFill>
                  <a:srgbClr val="475569"/>
                </a:solidFill>
                <a:latin typeface="Noto Sans KR"/>
              </a:rPr>
              <a:t>, </a:t>
            </a:r>
            <a:r>
              <a:rPr sz="788" dirty="0" err="1">
                <a:solidFill>
                  <a:srgbClr val="475569"/>
                </a:solidFill>
                <a:latin typeface="Noto Sans KR"/>
              </a:rPr>
              <a:t>센서</a:t>
            </a:r>
            <a:r>
              <a:rPr sz="788" dirty="0">
                <a:solidFill>
                  <a:srgbClr val="475569"/>
                </a:solidFill>
                <a:latin typeface="Noto Sans KR"/>
              </a:rPr>
              <a:t> 및 </a:t>
            </a:r>
            <a:r>
              <a:rPr sz="788" dirty="0" err="1">
                <a:solidFill>
                  <a:srgbClr val="475569"/>
                </a:solidFill>
                <a:latin typeface="Noto Sans KR"/>
              </a:rPr>
              <a:t>물류</a:t>
            </a:r>
            <a:r>
              <a:rPr sz="788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788" dirty="0" err="1">
                <a:solidFill>
                  <a:srgbClr val="475569"/>
                </a:solidFill>
                <a:latin typeface="Noto Sans KR"/>
              </a:rPr>
              <a:t>로봇</a:t>
            </a:r>
            <a:r>
              <a:rPr sz="788" dirty="0">
                <a:solidFill>
                  <a:srgbClr val="475569"/>
                </a:solidFill>
                <a:latin typeface="Noto Sans KR"/>
              </a:rPr>
              <a:t>(AGV/AMR, Robotic Arm)</a:t>
            </a:r>
            <a:r>
              <a:rPr lang="en-US" sz="788" dirty="0">
                <a:solidFill>
                  <a:srgbClr val="475569"/>
                </a:solidFill>
                <a:latin typeface="Noto Sans KR"/>
              </a:rPr>
              <a:t> </a:t>
            </a:r>
            <a:r>
              <a:rPr lang="ko-KR" altLang="en-US" sz="788" dirty="0">
                <a:solidFill>
                  <a:srgbClr val="475569"/>
                </a:solidFill>
                <a:latin typeface="Noto Sans KR"/>
              </a:rPr>
              <a:t>등</a:t>
            </a:r>
            <a:endParaRPr sz="788" dirty="0">
              <a:solidFill>
                <a:srgbClr val="475569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1953034"/>
            <a:ext cx="4000500" cy="3647666"/>
          </a:xfrm>
          <a:prstGeom prst="roundRect">
            <a:avLst>
              <a:gd name="adj" fmla="val 31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Rounded Rectangle 2"/>
          <p:cNvSpPr/>
          <p:nvPr/>
        </p:nvSpPr>
        <p:spPr>
          <a:xfrm>
            <a:off x="4686300" y="1953034"/>
            <a:ext cx="4000500" cy="3647666"/>
          </a:xfrm>
          <a:prstGeom prst="roundRect">
            <a:avLst>
              <a:gd name="adj" fmla="val 31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Rounded Rectangle 3"/>
          <p:cNvSpPr/>
          <p:nvPr/>
        </p:nvSpPr>
        <p:spPr>
          <a:xfrm>
            <a:off x="721519" y="3330326"/>
            <a:ext cx="493253" cy="171450"/>
          </a:xfrm>
          <a:prstGeom prst="roundRect">
            <a:avLst>
              <a:gd name="adj" fmla="val 25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Rounded Rectangle 4"/>
          <p:cNvSpPr/>
          <p:nvPr/>
        </p:nvSpPr>
        <p:spPr>
          <a:xfrm>
            <a:off x="4950619" y="3330326"/>
            <a:ext cx="493253" cy="171450"/>
          </a:xfrm>
          <a:prstGeom prst="roundRect">
            <a:avLst>
              <a:gd name="adj" fmla="val 25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" name="TextBox 5"/>
          <p:cNvSpPr txBox="1"/>
          <p:nvPr/>
        </p:nvSpPr>
        <p:spPr>
          <a:xfrm>
            <a:off x="457200" y="1257301"/>
            <a:ext cx="8301038" cy="1124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31" b="1">
                <a:solidFill>
                  <a:srgbClr val="2563EB"/>
                </a:solidFill>
                <a:latin typeface="Noto Sans KR"/>
              </a:rPr>
              <a:t>Infrastructure &amp; Middleware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1" y="1421606"/>
            <a:ext cx="2888611" cy="2666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159"/>
              </a:lnSpc>
            </a:pPr>
            <a:r>
              <a:rPr b="1">
                <a:solidFill>
                  <a:srgbClr val="0F172A"/>
                </a:solidFill>
                <a:latin typeface="Noto Sans KR"/>
              </a:rPr>
              <a:t>Layer 1 &amp; Layer 2 상세 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957" y="3358901"/>
            <a:ext cx="421816" cy="1212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8" b="1">
                <a:solidFill>
                  <a:srgbClr val="FFFFFF"/>
                </a:solidFill>
                <a:latin typeface="Noto Sans KR"/>
              </a:rPr>
              <a:t>Layer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0497" y="3319611"/>
            <a:ext cx="1450718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>
                <a:solidFill>
                  <a:srgbClr val="0F172A"/>
                </a:solidFill>
                <a:latin typeface="Noto Sans KR"/>
              </a:rPr>
              <a:t>하드웨어 및 필드 레이어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675" y="3655368"/>
            <a:ext cx="36870" cy="1299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44">
                <a:solidFill>
                  <a:srgbClr val="475569"/>
                </a:solidFill>
                <a:latin typeface="Noto Sans K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394" y="3655368"/>
            <a:ext cx="2102339" cy="170111"/>
          </a:xfrm>
          <a:prstGeom prst="rect">
            <a:avLst/>
          </a:prstGeom>
          <a:noFill/>
        </p:spPr>
        <p:txBody>
          <a:bodyPr wrap="none" lIns="35719" tIns="0" rIns="0" bIns="0" anchor="t">
            <a:spAutoFit/>
          </a:bodyPr>
          <a:lstStyle/>
          <a:p>
            <a:pPr>
              <a:lnSpc>
                <a:spcPts val="1519"/>
              </a:lnSpc>
            </a:pPr>
            <a:r>
              <a:rPr sz="844" b="1">
                <a:solidFill>
                  <a:srgbClr val="475569"/>
                </a:solidFill>
                <a:latin typeface="Noto Sans KR"/>
              </a:rPr>
              <a:t>실험/분석 설비:</a:t>
            </a:r>
            <a:r>
              <a:rPr sz="844">
                <a:solidFill>
                  <a:srgbClr val="475569"/>
                </a:solidFill>
                <a:latin typeface="Noto Sans KR"/>
              </a:rPr>
              <a:t> 반응기, 분광기 등 자동화 장치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75" y="3848249"/>
            <a:ext cx="36870" cy="1299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44">
                <a:solidFill>
                  <a:srgbClr val="475569"/>
                </a:solidFill>
                <a:latin typeface="Noto Sans K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394" y="3848249"/>
            <a:ext cx="2177680" cy="170111"/>
          </a:xfrm>
          <a:prstGeom prst="rect">
            <a:avLst/>
          </a:prstGeom>
          <a:noFill/>
        </p:spPr>
        <p:txBody>
          <a:bodyPr wrap="none" lIns="35719" tIns="0" rIns="0" bIns="0" anchor="t">
            <a:spAutoFit/>
          </a:bodyPr>
          <a:lstStyle/>
          <a:p>
            <a:pPr>
              <a:lnSpc>
                <a:spcPts val="1519"/>
              </a:lnSpc>
            </a:pPr>
            <a:r>
              <a:rPr sz="844" b="1">
                <a:solidFill>
                  <a:srgbClr val="475569"/>
                </a:solidFill>
                <a:latin typeface="Noto Sans KR"/>
              </a:rPr>
              <a:t>스마트 센서:</a:t>
            </a:r>
            <a:r>
              <a:rPr sz="844">
                <a:solidFill>
                  <a:srgbClr val="475569"/>
                </a:solidFill>
                <a:latin typeface="Noto Sans KR"/>
              </a:rPr>
              <a:t> 실시간 물리/화학적 상태 측정 장치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75" y="4041130"/>
            <a:ext cx="36870" cy="1299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44">
                <a:solidFill>
                  <a:srgbClr val="475569"/>
                </a:solidFill>
                <a:latin typeface="Noto Sans K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394" y="4041130"/>
            <a:ext cx="2315538" cy="170111"/>
          </a:xfrm>
          <a:prstGeom prst="rect">
            <a:avLst/>
          </a:prstGeom>
          <a:noFill/>
        </p:spPr>
        <p:txBody>
          <a:bodyPr wrap="none" lIns="35719" tIns="0" rIns="0" bIns="0" anchor="t">
            <a:spAutoFit/>
          </a:bodyPr>
          <a:lstStyle/>
          <a:p>
            <a:pPr>
              <a:lnSpc>
                <a:spcPts val="1519"/>
              </a:lnSpc>
            </a:pPr>
            <a:r>
              <a:rPr sz="844" b="1" dirty="0" err="1">
                <a:solidFill>
                  <a:srgbClr val="475569"/>
                </a:solidFill>
                <a:latin typeface="Noto Sans KR"/>
              </a:rPr>
              <a:t>물류</a:t>
            </a:r>
            <a:r>
              <a:rPr sz="844" b="1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844" b="1" dirty="0" err="1">
                <a:solidFill>
                  <a:srgbClr val="475569"/>
                </a:solidFill>
                <a:latin typeface="Noto Sans KR"/>
              </a:rPr>
              <a:t>자동화</a:t>
            </a:r>
            <a:r>
              <a:rPr sz="844" b="1" dirty="0">
                <a:solidFill>
                  <a:srgbClr val="475569"/>
                </a:solidFill>
                <a:latin typeface="Noto Sans KR"/>
              </a:rPr>
              <a:t>:</a:t>
            </a:r>
            <a:r>
              <a:rPr sz="844" dirty="0">
                <a:solidFill>
                  <a:srgbClr val="475569"/>
                </a:solidFill>
                <a:latin typeface="Noto Sans KR"/>
              </a:rPr>
              <a:t> AGV/AMR 및 Robotic Arm </a:t>
            </a:r>
            <a:r>
              <a:rPr sz="844" dirty="0" err="1">
                <a:solidFill>
                  <a:srgbClr val="475569"/>
                </a:solidFill>
                <a:latin typeface="Noto Sans KR"/>
              </a:rPr>
              <a:t>시료</a:t>
            </a:r>
            <a:r>
              <a:rPr sz="844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844" dirty="0" err="1">
                <a:solidFill>
                  <a:srgbClr val="475569"/>
                </a:solidFill>
                <a:latin typeface="Noto Sans KR"/>
              </a:rPr>
              <a:t>이송</a:t>
            </a:r>
            <a:endParaRPr sz="844" dirty="0">
              <a:solidFill>
                <a:srgbClr val="475569"/>
              </a:solidFill>
              <a:latin typeface="Noto Sans K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2057" y="3358901"/>
            <a:ext cx="421816" cy="1212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8" b="1">
                <a:solidFill>
                  <a:srgbClr val="FFFFFF"/>
                </a:solidFill>
                <a:latin typeface="Noto Sans KR"/>
              </a:rPr>
              <a:t>Layer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29597" y="3319611"/>
            <a:ext cx="1450718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>
                <a:solidFill>
                  <a:srgbClr val="0F172A"/>
                </a:solidFill>
                <a:latin typeface="Noto Sans KR"/>
              </a:rPr>
              <a:t>미들웨어 및 통신 레이어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7775" y="3655368"/>
            <a:ext cx="36870" cy="1299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44">
                <a:solidFill>
                  <a:srgbClr val="475569"/>
                </a:solidFill>
                <a:latin typeface="Noto Sans K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3494" y="3655368"/>
            <a:ext cx="2009365" cy="170111"/>
          </a:xfrm>
          <a:prstGeom prst="rect">
            <a:avLst/>
          </a:prstGeom>
          <a:noFill/>
        </p:spPr>
        <p:txBody>
          <a:bodyPr wrap="none" lIns="35719" tIns="0" rIns="0" bIns="0" anchor="t">
            <a:spAutoFit/>
          </a:bodyPr>
          <a:lstStyle/>
          <a:p>
            <a:pPr>
              <a:lnSpc>
                <a:spcPts val="1519"/>
              </a:lnSpc>
            </a:pPr>
            <a:r>
              <a:rPr sz="844" b="1">
                <a:solidFill>
                  <a:srgbClr val="475569"/>
                </a:solidFill>
                <a:latin typeface="Noto Sans KR"/>
              </a:rPr>
              <a:t>표준 프로토콜:</a:t>
            </a:r>
            <a:r>
              <a:rPr sz="844">
                <a:solidFill>
                  <a:srgbClr val="475569"/>
                </a:solidFill>
                <a:latin typeface="Noto Sans KR"/>
              </a:rPr>
              <a:t> OPC UA, MQTT, ROS2 연동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7775" y="3848249"/>
            <a:ext cx="36870" cy="1299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44">
                <a:solidFill>
                  <a:srgbClr val="475569"/>
                </a:solidFill>
                <a:latin typeface="Noto Sans K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494" y="3848249"/>
            <a:ext cx="2121575" cy="170111"/>
          </a:xfrm>
          <a:prstGeom prst="rect">
            <a:avLst/>
          </a:prstGeom>
          <a:noFill/>
        </p:spPr>
        <p:txBody>
          <a:bodyPr wrap="none" lIns="35719" tIns="0" rIns="0" bIns="0" anchor="t">
            <a:spAutoFit/>
          </a:bodyPr>
          <a:lstStyle/>
          <a:p>
            <a:pPr>
              <a:lnSpc>
                <a:spcPts val="1519"/>
              </a:lnSpc>
            </a:pPr>
            <a:r>
              <a:rPr sz="844" b="1">
                <a:solidFill>
                  <a:srgbClr val="475569"/>
                </a:solidFill>
                <a:latin typeface="Noto Sans KR"/>
              </a:rPr>
              <a:t>장비 드라이버:</a:t>
            </a:r>
            <a:r>
              <a:rPr sz="844">
                <a:solidFill>
                  <a:srgbClr val="475569"/>
                </a:solidFill>
                <a:latin typeface="Noto Sans KR"/>
              </a:rPr>
              <a:t> 이종 설비 제어 API 통합 표준화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7775" y="4041130"/>
            <a:ext cx="36870" cy="1299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44">
                <a:solidFill>
                  <a:srgbClr val="475569"/>
                </a:solidFill>
                <a:latin typeface="Noto Sans K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3494" y="4041130"/>
            <a:ext cx="2434160" cy="170111"/>
          </a:xfrm>
          <a:prstGeom prst="rect">
            <a:avLst/>
          </a:prstGeom>
          <a:noFill/>
        </p:spPr>
        <p:txBody>
          <a:bodyPr wrap="none" lIns="35719" tIns="0" rIns="0" bIns="0" anchor="t">
            <a:spAutoFit/>
          </a:bodyPr>
          <a:lstStyle/>
          <a:p>
            <a:pPr>
              <a:lnSpc>
                <a:spcPts val="1519"/>
              </a:lnSpc>
            </a:pPr>
            <a:r>
              <a:rPr sz="844" b="1">
                <a:solidFill>
                  <a:srgbClr val="475569"/>
                </a:solidFill>
                <a:latin typeface="Noto Sans KR"/>
              </a:rPr>
              <a:t>메타데이터 파이프라인:</a:t>
            </a:r>
            <a:r>
              <a:rPr sz="844">
                <a:solidFill>
                  <a:srgbClr val="475569"/>
                </a:solidFill>
                <a:latin typeface="Noto Sans KR"/>
              </a:rPr>
              <a:t> 센서 데이터 스트리밍 및 로깅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1953034"/>
            <a:ext cx="4000500" cy="3647666"/>
          </a:xfrm>
          <a:prstGeom prst="roundRect">
            <a:avLst>
              <a:gd name="adj" fmla="val 31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Rounded Rectangle 2"/>
          <p:cNvSpPr/>
          <p:nvPr/>
        </p:nvSpPr>
        <p:spPr>
          <a:xfrm>
            <a:off x="4686300" y="1953034"/>
            <a:ext cx="4000500" cy="3647666"/>
          </a:xfrm>
          <a:prstGeom prst="roundRect">
            <a:avLst>
              <a:gd name="adj" fmla="val 31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Rounded Rectangle 3"/>
          <p:cNvSpPr/>
          <p:nvPr/>
        </p:nvSpPr>
        <p:spPr>
          <a:xfrm>
            <a:off x="721519" y="3330326"/>
            <a:ext cx="493253" cy="171450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Rounded Rectangle 4"/>
          <p:cNvSpPr/>
          <p:nvPr/>
        </p:nvSpPr>
        <p:spPr>
          <a:xfrm>
            <a:off x="4950619" y="3330326"/>
            <a:ext cx="493253" cy="17145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" name="TextBox 5"/>
          <p:cNvSpPr txBox="1"/>
          <p:nvPr/>
        </p:nvSpPr>
        <p:spPr>
          <a:xfrm>
            <a:off x="457200" y="1257301"/>
            <a:ext cx="8301038" cy="1124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31" b="1">
                <a:solidFill>
                  <a:srgbClr val="2563EB"/>
                </a:solidFill>
                <a:latin typeface="Noto Sans KR"/>
              </a:rPr>
              <a:t>Gateway &amp;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1" y="1421606"/>
            <a:ext cx="2888611" cy="2666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159"/>
              </a:lnSpc>
            </a:pPr>
            <a:r>
              <a:rPr b="1">
                <a:solidFill>
                  <a:srgbClr val="0F172A"/>
                </a:solidFill>
                <a:latin typeface="Noto Sans KR"/>
              </a:rPr>
              <a:t>Layer 3 &amp; Layer 4 상세 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957" y="3358901"/>
            <a:ext cx="421816" cy="1212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8" b="1">
                <a:solidFill>
                  <a:srgbClr val="F8FAFC"/>
                </a:solidFill>
                <a:latin typeface="Noto Sans KR"/>
              </a:rPr>
              <a:t>Layer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0497" y="3319611"/>
            <a:ext cx="2115964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>
                <a:solidFill>
                  <a:srgbClr val="0F172A"/>
                </a:solidFill>
                <a:latin typeface="Noto Sans KR"/>
              </a:rPr>
              <a:t>오케스트레이션 및 안전 게이트웨이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675" y="3655368"/>
            <a:ext cx="36870" cy="1299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44">
                <a:solidFill>
                  <a:srgbClr val="475569"/>
                </a:solidFill>
                <a:latin typeface="Noto Sans K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394" y="3655368"/>
            <a:ext cx="2743540" cy="170111"/>
          </a:xfrm>
          <a:prstGeom prst="rect">
            <a:avLst/>
          </a:prstGeom>
          <a:noFill/>
        </p:spPr>
        <p:txBody>
          <a:bodyPr wrap="none" lIns="35719" tIns="0" rIns="0" bIns="0" anchor="t">
            <a:spAutoFit/>
          </a:bodyPr>
          <a:lstStyle/>
          <a:p>
            <a:pPr>
              <a:lnSpc>
                <a:spcPts val="1519"/>
              </a:lnSpc>
            </a:pPr>
            <a:r>
              <a:rPr sz="844" b="1">
                <a:solidFill>
                  <a:srgbClr val="475569"/>
                </a:solidFill>
                <a:latin typeface="Noto Sans KR"/>
              </a:rPr>
              <a:t>Tool Schema:</a:t>
            </a:r>
            <a:r>
              <a:rPr sz="844">
                <a:solidFill>
                  <a:srgbClr val="475569"/>
                </a:solidFill>
                <a:latin typeface="Noto Sans KR"/>
              </a:rPr>
              <a:t> AI 에이전트와 설비 간 표준 인터페이스 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75" y="3848249"/>
            <a:ext cx="36870" cy="1299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44">
                <a:solidFill>
                  <a:srgbClr val="475569"/>
                </a:solidFill>
                <a:latin typeface="Noto Sans K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394" y="3848249"/>
            <a:ext cx="2418130" cy="170111"/>
          </a:xfrm>
          <a:prstGeom prst="rect">
            <a:avLst/>
          </a:prstGeom>
          <a:noFill/>
        </p:spPr>
        <p:txBody>
          <a:bodyPr wrap="none" lIns="35719" tIns="0" rIns="0" bIns="0" anchor="t">
            <a:spAutoFit/>
          </a:bodyPr>
          <a:lstStyle/>
          <a:p>
            <a:pPr>
              <a:lnSpc>
                <a:spcPts val="1519"/>
              </a:lnSpc>
            </a:pPr>
            <a:r>
              <a:rPr sz="844" b="1">
                <a:solidFill>
                  <a:srgbClr val="475569"/>
                </a:solidFill>
                <a:latin typeface="Noto Sans KR"/>
              </a:rPr>
              <a:t>Safety Interlock:</a:t>
            </a:r>
            <a:r>
              <a:rPr sz="844">
                <a:solidFill>
                  <a:srgbClr val="475569"/>
                </a:solidFill>
                <a:latin typeface="Noto Sans KR"/>
              </a:rPr>
              <a:t> 안전 규칙 검증 및 긴급 제어 엔진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75" y="4041130"/>
            <a:ext cx="36870" cy="1299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44">
                <a:solidFill>
                  <a:srgbClr val="475569"/>
                </a:solidFill>
                <a:latin typeface="Noto Sans K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394" y="4041130"/>
            <a:ext cx="2136002" cy="170111"/>
          </a:xfrm>
          <a:prstGeom prst="rect">
            <a:avLst/>
          </a:prstGeom>
          <a:noFill/>
        </p:spPr>
        <p:txBody>
          <a:bodyPr wrap="none" lIns="35719" tIns="0" rIns="0" bIns="0" anchor="t">
            <a:spAutoFit/>
          </a:bodyPr>
          <a:lstStyle/>
          <a:p>
            <a:pPr>
              <a:lnSpc>
                <a:spcPts val="1519"/>
              </a:lnSpc>
            </a:pPr>
            <a:r>
              <a:rPr sz="844" b="1">
                <a:solidFill>
                  <a:srgbClr val="475569"/>
                </a:solidFill>
                <a:latin typeface="Noto Sans KR"/>
              </a:rPr>
              <a:t>디지털트윈:</a:t>
            </a:r>
            <a:r>
              <a:rPr sz="844">
                <a:solidFill>
                  <a:srgbClr val="475569"/>
                </a:solidFill>
                <a:latin typeface="Noto Sans KR"/>
              </a:rPr>
              <a:t> 실시간 물리 검증 및 스케줄링 중재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2057" y="3358901"/>
            <a:ext cx="421816" cy="1212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8" b="1">
                <a:solidFill>
                  <a:srgbClr val="FFFFFF"/>
                </a:solidFill>
                <a:latin typeface="Noto Sans KR"/>
              </a:rPr>
              <a:t>Layer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29597" y="3319611"/>
            <a:ext cx="1309654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>
                <a:solidFill>
                  <a:srgbClr val="0F172A"/>
                </a:solidFill>
                <a:latin typeface="Noto Sans KR"/>
              </a:rPr>
              <a:t>지능형 AI 에이전트 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7775" y="3655368"/>
            <a:ext cx="36870" cy="1299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44">
                <a:solidFill>
                  <a:srgbClr val="475569"/>
                </a:solidFill>
                <a:latin typeface="Noto Sans K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3494" y="3655368"/>
            <a:ext cx="2126384" cy="170111"/>
          </a:xfrm>
          <a:prstGeom prst="rect">
            <a:avLst/>
          </a:prstGeom>
          <a:noFill/>
        </p:spPr>
        <p:txBody>
          <a:bodyPr wrap="none" lIns="35719" tIns="0" rIns="0" bIns="0" anchor="t">
            <a:spAutoFit/>
          </a:bodyPr>
          <a:lstStyle/>
          <a:p>
            <a:pPr>
              <a:lnSpc>
                <a:spcPts val="1519"/>
              </a:lnSpc>
            </a:pPr>
            <a:r>
              <a:rPr sz="844" b="1">
                <a:solidFill>
                  <a:srgbClr val="475569"/>
                </a:solidFill>
                <a:latin typeface="Noto Sans KR"/>
              </a:rPr>
              <a:t>DoE 엔진:</a:t>
            </a:r>
            <a:r>
              <a:rPr sz="844">
                <a:solidFill>
                  <a:srgbClr val="475569"/>
                </a:solidFill>
                <a:latin typeface="Noto Sans KR"/>
              </a:rPr>
              <a:t> AI 기반 자율 실험 계획 및 가설 생성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7775" y="3848249"/>
            <a:ext cx="36870" cy="1299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44">
                <a:solidFill>
                  <a:srgbClr val="475569"/>
                </a:solidFill>
                <a:latin typeface="Noto Sans K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494" y="3848249"/>
            <a:ext cx="2036615" cy="170111"/>
          </a:xfrm>
          <a:prstGeom prst="rect">
            <a:avLst/>
          </a:prstGeom>
          <a:noFill/>
        </p:spPr>
        <p:txBody>
          <a:bodyPr wrap="none" lIns="35719" tIns="0" rIns="0" bIns="0" anchor="t">
            <a:spAutoFit/>
          </a:bodyPr>
          <a:lstStyle/>
          <a:p>
            <a:pPr>
              <a:lnSpc>
                <a:spcPts val="1519"/>
              </a:lnSpc>
            </a:pPr>
            <a:r>
              <a:rPr sz="844" b="1">
                <a:solidFill>
                  <a:srgbClr val="475569"/>
                </a:solidFill>
                <a:latin typeface="Noto Sans KR"/>
              </a:rPr>
              <a:t>가상 검증:</a:t>
            </a:r>
            <a:r>
              <a:rPr sz="844">
                <a:solidFill>
                  <a:srgbClr val="475569"/>
                </a:solidFill>
                <a:latin typeface="Noto Sans KR"/>
              </a:rPr>
              <a:t> 시뮬레이션 기반 사전 타당성 검토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7775" y="4041130"/>
            <a:ext cx="36870" cy="1299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44">
                <a:solidFill>
                  <a:srgbClr val="475569"/>
                </a:solidFill>
                <a:latin typeface="Noto Sans K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3494" y="4041130"/>
            <a:ext cx="2067073" cy="170111"/>
          </a:xfrm>
          <a:prstGeom prst="rect">
            <a:avLst/>
          </a:prstGeom>
          <a:noFill/>
        </p:spPr>
        <p:txBody>
          <a:bodyPr wrap="none" lIns="35719" tIns="0" rIns="0" bIns="0" anchor="t">
            <a:spAutoFit/>
          </a:bodyPr>
          <a:lstStyle/>
          <a:p>
            <a:pPr>
              <a:lnSpc>
                <a:spcPts val="1519"/>
              </a:lnSpc>
            </a:pPr>
            <a:r>
              <a:rPr sz="844" b="1">
                <a:solidFill>
                  <a:srgbClr val="475569"/>
                </a:solidFill>
                <a:latin typeface="Noto Sans KR"/>
              </a:rPr>
              <a:t>데이터 분석:</a:t>
            </a:r>
            <a:r>
              <a:rPr sz="844">
                <a:solidFill>
                  <a:srgbClr val="475569"/>
                </a:solidFill>
                <a:latin typeface="Noto Sans KR"/>
              </a:rPr>
              <a:t> 측정 결과 실시간 학습 및 피드백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1953034"/>
            <a:ext cx="1950244" cy="3647666"/>
          </a:xfrm>
          <a:prstGeom prst="roundRect">
            <a:avLst>
              <a:gd name="adj" fmla="val 43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Rounded Rectangle 2"/>
          <p:cNvSpPr/>
          <p:nvPr/>
        </p:nvSpPr>
        <p:spPr>
          <a:xfrm>
            <a:off x="2550319" y="1953034"/>
            <a:ext cx="1950244" cy="3647666"/>
          </a:xfrm>
          <a:prstGeom prst="roundRect">
            <a:avLst>
              <a:gd name="adj" fmla="val 43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Rounded Rectangle 3"/>
          <p:cNvSpPr/>
          <p:nvPr/>
        </p:nvSpPr>
        <p:spPr>
          <a:xfrm>
            <a:off x="4643438" y="1953034"/>
            <a:ext cx="1950244" cy="3647666"/>
          </a:xfrm>
          <a:prstGeom prst="roundRect">
            <a:avLst>
              <a:gd name="adj" fmla="val 43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Rounded Rectangle 4"/>
          <p:cNvSpPr/>
          <p:nvPr/>
        </p:nvSpPr>
        <p:spPr>
          <a:xfrm>
            <a:off x="6736557" y="1953034"/>
            <a:ext cx="1950244" cy="3647666"/>
          </a:xfrm>
          <a:prstGeom prst="roundRect">
            <a:avLst>
              <a:gd name="adj" fmla="val 43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" name="TextBox 5"/>
          <p:cNvSpPr txBox="1"/>
          <p:nvPr/>
        </p:nvSpPr>
        <p:spPr>
          <a:xfrm>
            <a:off x="457200" y="1257301"/>
            <a:ext cx="8301038" cy="1124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31" b="1">
                <a:solidFill>
                  <a:srgbClr val="2563EB"/>
                </a:solidFill>
                <a:latin typeface="Noto Sans KR"/>
              </a:rPr>
              <a:t>Development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1606"/>
            <a:ext cx="3300584" cy="2666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159"/>
              </a:lnSpc>
            </a:pPr>
            <a:r>
              <a:rPr b="1">
                <a:solidFill>
                  <a:srgbClr val="0F172A"/>
                </a:solidFill>
                <a:latin typeface="Noto Sans KR"/>
              </a:rPr>
              <a:t>단계별 추진 로드맵 (Phase 1 ~ 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794" y="3423196"/>
            <a:ext cx="357470" cy="103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1">
                <a:solidFill>
                  <a:srgbClr val="2563EB"/>
                </a:solidFill>
                <a:latin typeface="Noto Sans KR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794" y="3580358"/>
            <a:ext cx="1110882" cy="1470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6" b="1">
                <a:solidFill>
                  <a:srgbClr val="0F172A"/>
                </a:solidFill>
                <a:latin typeface="Noto Sans KR"/>
              </a:rPr>
              <a:t>인프라 및 통신 표준화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794" y="3830389"/>
            <a:ext cx="1664494" cy="2934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181"/>
              </a:lnSpc>
            </a:pPr>
            <a:r>
              <a:rPr sz="788">
                <a:solidFill>
                  <a:srgbClr val="475569"/>
                </a:solidFill>
                <a:latin typeface="Noto Sans KR"/>
              </a:rPr>
              <a:t>Layer 1-2 연동성 확보 및 프로토콜 규격화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28912" y="3423196"/>
            <a:ext cx="357470" cy="103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1">
                <a:solidFill>
                  <a:srgbClr val="2563EB"/>
                </a:solidFill>
                <a:latin typeface="Noto Sans KR"/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8912" y="3580358"/>
            <a:ext cx="1077218" cy="1470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6" b="1">
                <a:solidFill>
                  <a:srgbClr val="0F172A"/>
                </a:solidFill>
                <a:latin typeface="Noto Sans KR"/>
              </a:rPr>
              <a:t>안전 게이트웨이 구축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8913" y="3830389"/>
            <a:ext cx="1664494" cy="2934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181"/>
              </a:lnSpc>
            </a:pPr>
            <a:r>
              <a:rPr sz="788">
                <a:solidFill>
                  <a:srgbClr val="475569"/>
                </a:solidFill>
                <a:latin typeface="Noto Sans KR"/>
              </a:rPr>
              <a:t>Layer 3 Tool Schema 및 안전 인터락 구현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2031" y="3423196"/>
            <a:ext cx="357470" cy="103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1">
                <a:solidFill>
                  <a:srgbClr val="2563EB"/>
                </a:solidFill>
                <a:latin typeface="Noto Sans KR"/>
              </a:rPr>
              <a:t>PHASE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2031" y="3580358"/>
            <a:ext cx="852798" cy="1470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6" b="1">
                <a:solidFill>
                  <a:srgbClr val="0F172A"/>
                </a:solidFill>
                <a:latin typeface="Noto Sans KR"/>
              </a:rPr>
              <a:t>AI 에이전트 통합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2032" y="3830389"/>
            <a:ext cx="1664494" cy="139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181"/>
              </a:lnSpc>
            </a:pPr>
            <a:r>
              <a:rPr sz="788">
                <a:solidFill>
                  <a:srgbClr val="475569"/>
                </a:solidFill>
                <a:latin typeface="Noto Sans KR"/>
              </a:rPr>
              <a:t>Layer 4 DoE 엔진 및 데이터 분석 연동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5150" y="3423196"/>
            <a:ext cx="357470" cy="103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1">
                <a:solidFill>
                  <a:srgbClr val="2563EB"/>
                </a:solidFill>
                <a:latin typeface="Noto Sans KR"/>
              </a:rPr>
              <a:t>PHASE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15150" y="3580358"/>
            <a:ext cx="1110882" cy="1470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6" b="1">
                <a:solidFill>
                  <a:srgbClr val="0F172A"/>
                </a:solidFill>
                <a:latin typeface="Noto Sans KR"/>
              </a:rPr>
              <a:t>파일럿 검증 및 고도화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15150" y="3830389"/>
            <a:ext cx="1664494" cy="139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181"/>
              </a:lnSpc>
            </a:pPr>
            <a:r>
              <a:rPr sz="788">
                <a:solidFill>
                  <a:srgbClr val="475569"/>
                </a:solidFill>
                <a:latin typeface="Noto Sans KR"/>
              </a:rPr>
              <a:t>실험실 시범 운영 및 자율 실험 고도화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21555" y="2961084"/>
            <a:ext cx="900888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1">
                <a:solidFill>
                  <a:srgbClr val="F8FAFC"/>
                </a:solidFill>
                <a:latin typeface="Noto Sans KR"/>
              </a:rP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93094" y="3468291"/>
            <a:ext cx="5357813" cy="1979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8"/>
              </a:lnSpc>
            </a:pPr>
            <a:r>
              <a:rPr sz="1125">
                <a:solidFill>
                  <a:srgbClr val="94A3B8"/>
                </a:solidFill>
                <a:latin typeface="Noto Sans KR"/>
              </a:rPr>
              <a:t>실험자동화 아키텍처 개발 기획안에 대한 질의응답 시간을 갖겠습니다.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A3A70-4D9D-C6B0-60B5-A459DF61D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488AF07A-E4EA-CE04-319E-5B090DF50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180" y="1157245"/>
            <a:ext cx="8152171" cy="4016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PnP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Plug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&amp;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Play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기반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Self-Driving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Lab을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위한 아키텍처는 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하드웨어 물리 계층부터 AI 추론 계층까지 4개의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Layer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로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구조화할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수 있습니다. 각 계층별 역할과 기능, 필수 요구 사양은 다음과 같습니다.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endParaRPr lang="ko-KR" altLang="ko-KR" sz="900" dirty="0">
              <a:solidFill>
                <a:srgbClr val="1F1F1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Layer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1: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Device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Layer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(물리 및 드라이버 계층)</a:t>
            </a:r>
            <a:endParaRPr lang="ko-KR" altLang="ko-KR" sz="900" dirty="0">
              <a:solidFill>
                <a:srgbClr val="1F1F1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실제 실험을 수행하는 단품 자동화 설비(액체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이송기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원심분리기,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분광광도계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등) 및 장비 전용 드라이버 구역입니다.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ko-KR" altLang="ko-KR" sz="900" dirty="0">
              <a:solidFill>
                <a:srgbClr val="1F1F1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역할 및 기능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</a:t>
            </a:r>
          </a:p>
          <a:p>
            <a:pPr marL="342900" lvl="1"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하드웨어 구동, 센서 데이터 수집, 장비 단위 모션 제어</a:t>
            </a:r>
          </a:p>
          <a:p>
            <a:pPr marL="342900" lvl="1"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장비 자체의 하드웨어 메타데이터 및 상태(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Ready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Busy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Error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노출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ko-KR" altLang="ko-KR" sz="900" dirty="0">
              <a:solidFill>
                <a:srgbClr val="1F1F1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요구 사양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</a:t>
            </a:r>
          </a:p>
          <a:p>
            <a:pPr marL="342900" lvl="1"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표준 통신 인터페이스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REST API,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gRPC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SiLA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2, OPC UA 등 네트워크 기반 오픈 프로토콜 지원</a:t>
            </a:r>
          </a:p>
          <a:p>
            <a:pPr marL="342900" lvl="1"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디스커버리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응답성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네트워크 접속 시 자사의 디바이스 식별자(UUID) 및 기능(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Capability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프로필을 반환하는 기능</a:t>
            </a:r>
          </a:p>
          <a:p>
            <a:pPr marL="342900" lvl="1"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하드웨어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인터락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과전류, 물리적 충돌 등 긴급 상황 시 자체 비상 정지(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Fail-safe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로직 탑재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ko-KR" altLang="ko-KR" sz="900" dirty="0">
              <a:solidFill>
                <a:srgbClr val="1F1F1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2.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Layer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2: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Middleware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Layer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(통신 및 오케스트레이션 계층)</a:t>
            </a:r>
            <a:endParaRPr lang="ko-KR" altLang="ko-KR" sz="900" dirty="0">
              <a:solidFill>
                <a:srgbClr val="1F1F1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분산된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Device들을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동적으로 연결하고 메시지/데이터 파이프라인을 중재하는 하부 인프라입니다.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ko-KR" altLang="ko-KR" sz="900" dirty="0">
              <a:solidFill>
                <a:srgbClr val="1F1F1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역할 및 기능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</a:t>
            </a:r>
          </a:p>
          <a:p>
            <a:pPr marL="342900" lvl="1"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Dynamic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Discovery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Device의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즉각적인 접속/탈착 감지 및 네트워크 등록</a:t>
            </a:r>
          </a:p>
          <a:p>
            <a:pPr marL="342900" lvl="1"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Data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Broker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장비 간 또는 상위 시스템과의 실시간 데이터 패킷 송수신 및 메시지 큐 관리</a:t>
            </a:r>
          </a:p>
          <a:p>
            <a:pPr marL="342900" lvl="1"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Hardware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Abstraction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Layer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(HAL)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동일 범주 장비(예: 다른 제조사의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분주기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B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에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대해 통일된 API 표준 제공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ko-KR" altLang="ko-KR" sz="900" dirty="0">
              <a:solidFill>
                <a:srgbClr val="1F1F1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요구 사양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</a:t>
            </a:r>
          </a:p>
          <a:p>
            <a:pPr marL="342900" lvl="1"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동적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핫플러깅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Hot-plugging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전체 시스템 재부팅 없이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Device의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추가/제거가 런타임에 즉시 반영되는 아키텍처 (예: ROS 2 / DDS, MQTT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Broker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  <a:p>
            <a:pPr marL="342900" lvl="1"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상태 동기화 및 타임아웃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통신 절단 시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재연결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처리 및 데이터 손실 방지 메커니즘</a:t>
            </a:r>
          </a:p>
          <a:p>
            <a:pPr marL="342900" lvl="1"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실시간성(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Low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Latency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결정론적(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Deterministic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제어를 위한 고속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메세징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Latency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보장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ko-KR" altLang="ko-KR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1074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C8DB6-CD04-A478-AB05-7BA199DF8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58C995C-2551-DB51-1C9E-78893C74C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180" y="1157245"/>
            <a:ext cx="8152171" cy="3739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PnP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Plug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&amp;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Play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기반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Self-Driving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Lab을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위한 아키텍처는 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하드웨어 물리 계층부터 AI 추론 계층까지 4개의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Layer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로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구조화할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수 있습니다. 각 계층별 역할과 기능, 필수 요구 사양은 다음과 같습니다.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ko-KR" altLang="ko-KR" sz="900" dirty="0">
              <a:solidFill>
                <a:srgbClr val="1F1F1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3.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Layer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3: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Harness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Layer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(AI 안전 및 제어 중재 계층)</a:t>
            </a:r>
            <a:endParaRPr lang="ko-KR" altLang="ko-KR" sz="900" dirty="0">
              <a:solidFill>
                <a:srgbClr val="1F1F1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상위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AI의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자율적 의사결정이 하드웨어 영역으로 전달되기 전, 규칙 검증 및 안전 경계를 적용하는 게이트웨이입니다.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역할 및 기능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</a:t>
            </a:r>
          </a:p>
          <a:p>
            <a:pPr marL="342900" lvl="1"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Dynamic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Tool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Registry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Middleware에서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감지된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Device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기능을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AI가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이해할 수 있는 형태(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Function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Call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Spec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JSON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Schema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)로 스키마 변환 및 동적 등록</a:t>
            </a:r>
          </a:p>
          <a:p>
            <a:pPr marL="342900" lvl="1"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Safety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Guardrails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AI가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생성한 실행 파라미터(용량, 온도, 이동 경로 등)의 물리적/화학적 임계치 검증 및 차단</a:t>
            </a:r>
          </a:p>
          <a:p>
            <a:pPr marL="342900" lvl="1"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상태 관리 및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Rollback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작업 실패 시 대체 경로(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Rerouting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를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제시하거나 실험 상태를 안전한 시점으로 원복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ko-KR" altLang="ko-KR" sz="900" dirty="0">
              <a:solidFill>
                <a:srgbClr val="1F1F1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요구 사양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</a:t>
            </a:r>
          </a:p>
          <a:p>
            <a:pPr marL="342900" lvl="1"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Context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Synchronization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Device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변경 시 AI 프롬프트/컨텍스트를 런타임에 즉시 업데이트하는 메커니즘</a:t>
            </a:r>
          </a:p>
          <a:p>
            <a:pPr marL="342900" lvl="1"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Sandbox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Execution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실제 장비 명령 발송 전 가상 검증(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Dry-run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및 시뮬레이션 지원</a:t>
            </a:r>
          </a:p>
          <a:p>
            <a:pPr marL="342900" lvl="1"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Audit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Logging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AI의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명령 생성 이유,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하네스의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검증 결과, 장비 실행 이력을 시계열로 정밀 기록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ko-KR" altLang="ko-KR" sz="900" dirty="0">
              <a:solidFill>
                <a:srgbClr val="1F1F1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4.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Layer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4: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Agent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Layer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(AI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플래너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및 자율 추론 계층)</a:t>
            </a:r>
            <a:endParaRPr lang="ko-KR" altLang="ko-KR" sz="900" dirty="0">
              <a:solidFill>
                <a:srgbClr val="1F1F1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실험 목적을 달성하기 위해 전체 워크플로우를 기획하고 최적화하는 최상위 지능 계층입니다.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역할 및 기능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</a:t>
            </a:r>
          </a:p>
          <a:p>
            <a:pPr marL="342900" lvl="1"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Goal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Decomposition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자연어 또는 고차원 목표(예: "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반응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수율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최적화")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를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세부 작업(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Task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Graph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단위로 분할</a:t>
            </a:r>
          </a:p>
          <a:p>
            <a:pPr marL="342900" lvl="1"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Tool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Calling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&amp;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Planning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Harness가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제공하는 사용 가능한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Device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목록(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Tools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)을 활용해 최적의 실행 시퀀스 생성</a:t>
            </a:r>
          </a:p>
          <a:p>
            <a:pPr marL="342900" lvl="1"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In-context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Learning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실험 결과 데이터를 분석하여 다음 실험 조건(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Bayesian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Optimization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Active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Learning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계산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ko-KR" altLang="ko-KR" sz="900" dirty="0">
              <a:solidFill>
                <a:srgbClr val="1F1F1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요구 사양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</a:t>
            </a:r>
          </a:p>
          <a:p>
            <a:pPr marL="342900" lvl="1"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Dynamic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Plan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Adaptation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특정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Device가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제거되거나 고장 났을 때 대체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Device를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이용해 플랜을 재구성하는 능동성</a:t>
            </a:r>
          </a:p>
          <a:p>
            <a:pPr marL="342900" lvl="1"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Structured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Output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Harness가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수용할 수 있는 정형화된 JSON/API 형태로 명령을 생성하는 능력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endParaRPr lang="ko-KR" altLang="ko-KR" sz="900" dirty="0">
              <a:solidFill>
                <a:srgbClr val="1F1F1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0870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BC04E9E8-085B-3C58-B955-2AB0CBB9B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769" y="1078707"/>
            <a:ext cx="8436769" cy="4128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Self-Driving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Lab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구축 시 개발진, 연구원, 협력사 등 다양한 이해관계자가 직관적으로 소통할 수 있도록 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업계 표준 SW/HW 아키텍처 명칭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으로 재정리한 구조입니다.</a:t>
            </a: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ko-KR" sz="900" b="1" dirty="0">
              <a:solidFill>
                <a:srgbClr val="1F1F1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Hardware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Layer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(하드웨어 계층)</a:t>
            </a:r>
            <a:endParaRPr lang="ko-KR" altLang="ko-KR" sz="900" dirty="0">
              <a:solidFill>
                <a:srgbClr val="1F1F1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실제 실험실에 배치된 물리적 자동화 장비 및 개별 컨트롤러 구역입니다.</a:t>
            </a: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통상적 명칭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물리 장비 레이어 / 설비 레이어 (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Hardware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/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Physical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Device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Layer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구성 요소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분주기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Pipette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), 원심분리기,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분광광도계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로봇 팔, PLC, 장비 전용 PC</a:t>
            </a: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역할 및 사양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</a:t>
            </a:r>
          </a:p>
          <a:p>
            <a:pPr marL="342900" lvl="1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물리 동작 및 센싱 수행</a:t>
            </a:r>
          </a:p>
          <a:p>
            <a:pPr marL="342900" lvl="1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REST API,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gRPC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SiLA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2, OPC UA 등 표준 통신 프로토콜 제공</a:t>
            </a:r>
          </a:p>
          <a:p>
            <a:pPr marL="342900" lvl="1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과전류/충돌 방지용 자체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인터락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Hardware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Interlock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및 긴급 정지 기능</a:t>
            </a:r>
            <a:endParaRPr lang="en-US" altLang="ko-KR" sz="900" dirty="0">
              <a:solidFill>
                <a:srgbClr val="1F1F1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342900" lvl="1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ko-KR" altLang="ko-KR" sz="900" dirty="0">
              <a:solidFill>
                <a:srgbClr val="1F1F1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2.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Driver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&amp;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Middleware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Layer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(드라이버 및 미들웨어 계층)</a:t>
            </a:r>
            <a:endParaRPr lang="ko-KR" altLang="ko-KR" sz="900" dirty="0">
              <a:solidFill>
                <a:srgbClr val="1F1F1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이종 장비들을 하나의 네트워크로 묶고 실시간 데이터 통신을 중재하는 하부 인프라입니다.</a:t>
            </a: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통상적 명칭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드라이버 및 미들웨어 레이어 (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Driver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&amp;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Middleware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Layer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/ 데이터 통신 레이어</a:t>
            </a: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구성 요소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ROS 2 / DDS, MQTT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Broker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Hardware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Abstraction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Layer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(HAL),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SiLA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Server</a:t>
            </a: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역할 및 사양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</a:t>
            </a:r>
          </a:p>
          <a:p>
            <a:pPr marL="342900" lvl="1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Dynamic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Discovery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장비 접속/탈착 시 IP 및 API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Spec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자동 감지 (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PnP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지원)</a:t>
            </a:r>
          </a:p>
          <a:p>
            <a:pPr marL="342900" lvl="1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Hardware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Abstraction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서로 다른 제조사의 장비를 동일한 공통 API 규격으로 수용</a:t>
            </a:r>
          </a:p>
          <a:p>
            <a:pPr marL="342900" lvl="1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Message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Queuing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실시간 데이터 패킷 전달 및 통신 절단 시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재연결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처리</a:t>
            </a: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ko-KR" altLang="ko-KR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7A472EB-54FA-FEF6-762F-F816EEE42459}"/>
              </a:ext>
            </a:extLst>
          </p:cNvPr>
          <p:cNvGraphicFramePr>
            <a:graphicFrameLocks noGrp="1"/>
          </p:cNvGraphicFramePr>
          <p:nvPr/>
        </p:nvGraphicFramePr>
        <p:xfrm>
          <a:off x="5229226" y="3346728"/>
          <a:ext cx="3707606" cy="1714500"/>
        </p:xfrm>
        <a:graphic>
          <a:graphicData uri="http://schemas.openxmlformats.org/drawingml/2006/table">
            <a:tbl>
              <a:tblPr/>
              <a:tblGrid>
                <a:gridCol w="978694">
                  <a:extLst>
                    <a:ext uri="{9D8B030D-6E8A-4147-A177-3AD203B41FA5}">
                      <a16:colId xmlns:a16="http://schemas.microsoft.com/office/drawing/2014/main" val="770654832"/>
                    </a:ext>
                  </a:extLst>
                </a:gridCol>
                <a:gridCol w="1264444">
                  <a:extLst>
                    <a:ext uri="{9D8B030D-6E8A-4147-A177-3AD203B41FA5}">
                      <a16:colId xmlns:a16="http://schemas.microsoft.com/office/drawing/2014/main" val="1090787565"/>
                    </a:ext>
                  </a:extLst>
                </a:gridCol>
                <a:gridCol w="1464469">
                  <a:extLst>
                    <a:ext uri="{9D8B030D-6E8A-4147-A177-3AD203B41FA5}">
                      <a16:colId xmlns:a16="http://schemas.microsoft.com/office/drawing/2014/main" val="1215099727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ctr" rtl="0"/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Layer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주요 처리 대상</a:t>
                      </a:r>
                      <a:endParaRPr lang="ko-KR" altLang="en-US" sz="12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핵심 미션</a:t>
                      </a:r>
                      <a:endParaRPr lang="ko-KR" altLang="en-US" sz="12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3634507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 rtl="0"/>
                      <a:r>
                        <a:rPr lang="en-US" sz="8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Layer 4: Agent</a:t>
                      </a:r>
                      <a:endParaRPr lang="en-US" sz="8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실험 목표</a:t>
                      </a:r>
                      <a:r>
                        <a:rPr lang="en-US" altLang="ko-KR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en-US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LLM/Planner, </a:t>
                      </a:r>
                    </a:p>
                    <a:p>
                      <a:pPr rtl="0"/>
                      <a:r>
                        <a:rPr lang="en-US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Bayesian Opt.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실험 계획 수립 및 차기 조건 자율 결정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8563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 rtl="0"/>
                      <a:r>
                        <a:rPr lang="en-US" sz="8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Layer 3: Harness</a:t>
                      </a:r>
                      <a:endParaRPr lang="en-US" sz="8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Tool Schema, </a:t>
                      </a:r>
                      <a:r>
                        <a:rPr lang="ko-KR" altLang="en-US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안전 규칙</a:t>
                      </a:r>
                      <a:r>
                        <a:rPr lang="en-US" altLang="ko-KR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</a:p>
                    <a:p>
                      <a:pPr rtl="0"/>
                      <a:r>
                        <a:rPr lang="ko-KR" altLang="en-US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실행 상태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AI 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명령의 유효성 검증 및 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dynamic tool 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제공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1231345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 rtl="0"/>
                      <a:r>
                        <a:rPr lang="en-US" sz="8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Layer 2: Middleware</a:t>
                      </a:r>
                      <a:endParaRPr lang="en-US" sz="8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 dirty="0" err="1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메세지</a:t>
                      </a:r>
                      <a:r>
                        <a:rPr lang="ko-KR" altLang="en-US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패킷</a:t>
                      </a:r>
                      <a:r>
                        <a:rPr lang="en-US" altLang="ko-KR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통신 프로토콜</a:t>
                      </a:r>
                      <a:r>
                        <a:rPr lang="en-US" altLang="ko-KR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</a:t>
                      </a:r>
                    </a:p>
                    <a:p>
                      <a:pPr rtl="0"/>
                      <a:r>
                        <a:rPr lang="ko-KR" altLang="en-US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장비 </a:t>
                      </a:r>
                      <a:r>
                        <a:rPr lang="en-US" altLang="ko-KR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API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Device </a:t>
                      </a:r>
                      <a:r>
                        <a:rPr lang="ko-KR" altLang="en-US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동적 감지 및 데이터 네트워크 제어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4331353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 rtl="0"/>
                      <a:r>
                        <a:rPr lang="en-US" sz="8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Layer 1: Device</a:t>
                      </a:r>
                      <a:endParaRPr lang="en-US" sz="8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 dirty="0" err="1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액추에이터</a:t>
                      </a:r>
                      <a:r>
                        <a:rPr lang="en-US" altLang="ko-KR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센서</a:t>
                      </a:r>
                      <a:r>
                        <a:rPr lang="en-US" altLang="ko-KR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</a:p>
                    <a:p>
                      <a:pPr rtl="0"/>
                      <a:r>
                        <a:rPr lang="ko-KR" altLang="en-US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물리 하드웨어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실제 물리적</a:t>
                      </a:r>
                      <a:r>
                        <a:rPr lang="en-US" altLang="ko-KR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화학적 실험 동작 수행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69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0675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D3A95-410A-CEC2-3E7B-119C876EB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ADD65E46-2413-E01B-4A16-7FDD666A2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769" y="1078707"/>
            <a:ext cx="8436769" cy="4339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Self-Driving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Lab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구축 시 개발진, 연구원, 협력사 등 다양한 이해관계자가 직관적으로 소통할 수 있도록 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업계 표준 SW/HW 아키텍처 명칭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으로 재정리한 구조입니다.</a:t>
            </a: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ko-KR" sz="900" b="1" dirty="0">
              <a:solidFill>
                <a:srgbClr val="1F1F1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3.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Safety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&amp;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Control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Engine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Layer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(안전 및 오케스트레이션 계층)</a:t>
            </a:r>
            <a:endParaRPr lang="ko-KR" altLang="ko-KR" sz="900" dirty="0">
              <a:solidFill>
                <a:srgbClr val="1F1F1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AI의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명령을 검증하고, 실제 장비에 전달하기 전 안전과 실행 상태를 중재하는 게이트웨이(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Harness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구역입니다.</a:t>
            </a: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통상적 명칭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오케스트레이터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및 제어 레이어 (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Orchestrator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&amp;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Control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Layer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/ 안전 게이트웨이</a:t>
            </a: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구성 요소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Dynamic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Tool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Registry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Guardrails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(안전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검증기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),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Task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Manager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State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Store</a:t>
            </a:r>
            <a:endParaRPr lang="ko-KR" altLang="ko-KR" sz="900" dirty="0">
              <a:solidFill>
                <a:srgbClr val="1F1F1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역할 및 사양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</a:t>
            </a:r>
          </a:p>
          <a:p>
            <a:pPr marL="342900" lvl="1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Dynamic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Tool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Registry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미들웨어가 감지한 장비 기능을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AI용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API 스키마(JSON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Schema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)로 자동 등록</a:t>
            </a:r>
          </a:p>
          <a:p>
            <a:pPr marL="342900" lvl="1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Safety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Guardrails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AI가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생성한 실행 파라미터(용량, 온도, 이동 경로 등)의 물리적/화학적 임계치 차단</a:t>
            </a:r>
          </a:p>
          <a:p>
            <a:pPr marL="342900" lvl="1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Error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Handling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장비 오류 발생 시 우회 경로(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Rerouting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제공 및 가상 시뮬레이션(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Dry-run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수행</a:t>
            </a: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ko-KR" sz="900" b="1" dirty="0">
              <a:solidFill>
                <a:srgbClr val="1F1F1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4. AI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Agent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Layer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(AI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플래너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및 지능 계층)</a:t>
            </a:r>
            <a:endParaRPr lang="ko-KR" altLang="ko-KR" sz="900" dirty="0">
              <a:solidFill>
                <a:srgbClr val="1F1F1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실험 목적을 해석하고 최적의 실험 조건 및 실행 계획을 자율적으로 수립하는 최상위 지능 구역입니다.</a:t>
            </a: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통상적 명칭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AI 에이전트 레이어 (AI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Agent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&amp;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Planning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Layer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/ 자율 추론 레이어</a:t>
            </a: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구성 요소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LLM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Planner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Bayesian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Optimization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Engine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Active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Learning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Model</a:t>
            </a:r>
            <a:endParaRPr lang="ko-KR" altLang="ko-KR" sz="900" dirty="0">
              <a:solidFill>
                <a:srgbClr val="1F1F1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역할 및 사양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</a:t>
            </a:r>
          </a:p>
          <a:p>
            <a:pPr marL="342900" lvl="1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Goal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Decomposition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자연어 목표(예: "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수율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최적화")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를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세부 실행 작업 그래프로 분할</a:t>
            </a:r>
          </a:p>
          <a:p>
            <a:pPr marL="342900" lvl="1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Tool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Calling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Harness가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제공하는 장비 목록을 참조하여 실행 명령(API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Call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생성</a:t>
            </a:r>
          </a:p>
          <a:p>
            <a:pPr marL="342900" lvl="1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Adaptive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Planning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장비 탈착이나 에러 발생 시 변경된 장비 구성에 맞춰 실행 플랜 재구성</a:t>
            </a: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ko-KR" altLang="ko-KR" sz="900" dirty="0">
              <a:solidFill>
                <a:srgbClr val="1F1F1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업계 통용 레이어 비교 요약</a:t>
            </a:r>
            <a:endParaRPr lang="ko-KR" altLang="ko-KR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3DCF945-93E2-2F0A-A340-24B8FB98DAF4}"/>
              </a:ext>
            </a:extLst>
          </p:cNvPr>
          <p:cNvGraphicFramePr>
            <a:graphicFrameLocks noGrp="1"/>
          </p:cNvGraphicFramePr>
          <p:nvPr/>
        </p:nvGraphicFramePr>
        <p:xfrm>
          <a:off x="5229226" y="3346728"/>
          <a:ext cx="3707606" cy="1834515"/>
        </p:xfrm>
        <a:graphic>
          <a:graphicData uri="http://schemas.openxmlformats.org/drawingml/2006/table">
            <a:tbl>
              <a:tblPr/>
              <a:tblGrid>
                <a:gridCol w="978694">
                  <a:extLst>
                    <a:ext uri="{9D8B030D-6E8A-4147-A177-3AD203B41FA5}">
                      <a16:colId xmlns:a16="http://schemas.microsoft.com/office/drawing/2014/main" val="770654832"/>
                    </a:ext>
                  </a:extLst>
                </a:gridCol>
                <a:gridCol w="1264444">
                  <a:extLst>
                    <a:ext uri="{9D8B030D-6E8A-4147-A177-3AD203B41FA5}">
                      <a16:colId xmlns:a16="http://schemas.microsoft.com/office/drawing/2014/main" val="1090787565"/>
                    </a:ext>
                  </a:extLst>
                </a:gridCol>
                <a:gridCol w="1464469">
                  <a:extLst>
                    <a:ext uri="{9D8B030D-6E8A-4147-A177-3AD203B41FA5}">
                      <a16:colId xmlns:a16="http://schemas.microsoft.com/office/drawing/2014/main" val="1215099727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ctr" rtl="0"/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Layer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주요 처리 대상</a:t>
                      </a:r>
                      <a:endParaRPr lang="ko-KR" altLang="en-US" sz="12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핵심 미션</a:t>
                      </a:r>
                      <a:endParaRPr lang="ko-KR" altLang="en-US" sz="12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3634507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 rtl="0"/>
                      <a:r>
                        <a:rPr lang="en-US" sz="8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Layer 4: Agent</a:t>
                      </a:r>
                      <a:br>
                        <a:rPr lang="en-US" sz="8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8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(AI Agent)</a:t>
                      </a:r>
                      <a:endParaRPr lang="en-US" sz="8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실험 목표</a:t>
                      </a:r>
                      <a:r>
                        <a:rPr lang="en-US" altLang="ko-KR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en-US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LLM/Planner, </a:t>
                      </a:r>
                    </a:p>
                    <a:p>
                      <a:pPr rtl="0"/>
                      <a:r>
                        <a:rPr lang="en-US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Bayesian Opt.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실험 계획 수립 및 차기 조건 자율 결정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8563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 rtl="0"/>
                      <a:r>
                        <a:rPr lang="en-US" sz="8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Layer 3: Harness</a:t>
                      </a:r>
                      <a:br>
                        <a:rPr lang="en-US" sz="8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8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(Control &amp; Safety)</a:t>
                      </a:r>
                      <a:endParaRPr lang="en-US" sz="8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Tool Schema, </a:t>
                      </a:r>
                      <a:r>
                        <a:rPr lang="ko-KR" altLang="en-US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안전 규칙</a:t>
                      </a:r>
                      <a:r>
                        <a:rPr lang="en-US" altLang="ko-KR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</a:p>
                    <a:p>
                      <a:pPr rtl="0"/>
                      <a:r>
                        <a:rPr lang="ko-KR" altLang="en-US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실행 상태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AI 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명령의 유효성 검증 및 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dynamic tool 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제공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1231345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pPr algn="ctr" rtl="0"/>
                      <a:r>
                        <a:rPr lang="en-US" sz="8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Layer 2: Middleware</a:t>
                      </a:r>
                      <a:br>
                        <a:rPr lang="en-US" sz="8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8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(Driver</a:t>
                      </a:r>
                      <a:r>
                        <a:rPr lang="ko-KR" altLang="en-US" sz="8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&amp;</a:t>
                      </a:r>
                      <a:r>
                        <a:rPr lang="ko-KR" altLang="en-US" sz="8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Middleware)</a:t>
                      </a:r>
                      <a:endParaRPr lang="en-US" sz="8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 dirty="0" err="1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메세지</a:t>
                      </a:r>
                      <a:r>
                        <a:rPr lang="ko-KR" altLang="en-US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패킷</a:t>
                      </a:r>
                      <a:r>
                        <a:rPr lang="en-US" altLang="ko-KR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통신 프로토콜</a:t>
                      </a:r>
                      <a:r>
                        <a:rPr lang="en-US" altLang="ko-KR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</a:t>
                      </a:r>
                    </a:p>
                    <a:p>
                      <a:pPr rtl="0"/>
                      <a:r>
                        <a:rPr lang="ko-KR" altLang="en-US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장비 </a:t>
                      </a:r>
                      <a:r>
                        <a:rPr lang="en-US" altLang="ko-KR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API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Device </a:t>
                      </a:r>
                      <a:r>
                        <a:rPr lang="ko-KR" altLang="en-US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동적 감지 및 데이터 네트워크 제어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4331353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 rtl="0"/>
                      <a:r>
                        <a:rPr lang="en-US" sz="8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Layer 1: Device</a:t>
                      </a:r>
                      <a:br>
                        <a:rPr lang="en-US" sz="8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8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(Equipment)</a:t>
                      </a:r>
                      <a:endParaRPr lang="en-US" sz="8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실험자동화</a:t>
                      </a:r>
                      <a:r>
                        <a:rPr lang="en-US" altLang="ko-KR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로봇</a:t>
                      </a:r>
                      <a:r>
                        <a:rPr lang="en-US" altLang="ko-KR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br>
                        <a:rPr lang="en-US" altLang="ko-KR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800" dirty="0" err="1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액추에이터</a:t>
                      </a:r>
                      <a:r>
                        <a:rPr lang="en-US" altLang="ko-KR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센서</a:t>
                      </a:r>
                      <a:r>
                        <a:rPr lang="en-US" altLang="ko-KR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endParaRPr lang="ko-KR" altLang="en-US" sz="8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실제 물리적</a:t>
                      </a:r>
                      <a:r>
                        <a:rPr lang="en-US" altLang="ko-KR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8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화학적 실험 동작 수행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69712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032C573-79D1-85A2-0E16-32DF7B3BCEB8}"/>
              </a:ext>
            </a:extLst>
          </p:cNvPr>
          <p:cNvGraphicFramePr>
            <a:graphicFrameLocks noGrp="1"/>
          </p:cNvGraphicFramePr>
          <p:nvPr/>
        </p:nvGraphicFramePr>
        <p:xfrm>
          <a:off x="9329738" y="2992406"/>
          <a:ext cx="7886700" cy="24231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428153082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4914089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6162597"/>
                    </a:ext>
                  </a:extLst>
                </a:gridCol>
              </a:tblGrid>
              <a:tr h="268605"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기존 구조</a:t>
                      </a:r>
                      <a:endParaRPr lang="ko-KR" altLang="en-US" sz="10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통상용어 </a:t>
                      </a:r>
                      <a:r>
                        <a:rPr lang="en-US" altLang="ko-KR" sz="1000" b="1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Standard Terminology)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직관적 비유</a:t>
                      </a:r>
                      <a:endParaRPr lang="ko-KR" altLang="en-US" sz="10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0739651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rtl="0"/>
                      <a:r>
                        <a:rPr lang="en-US" sz="10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Layer 4: Agent</a:t>
                      </a:r>
                      <a:endParaRPr lang="en-US" sz="10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AI Agent Layer</a:t>
                      </a:r>
                      <a:r>
                        <a:rPr lang="en-US" sz="10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(AI </a:t>
                      </a:r>
                      <a:r>
                        <a:rPr lang="ko-KR" altLang="en-US" sz="1000" dirty="0" err="1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플래너</a:t>
                      </a:r>
                      <a:r>
                        <a:rPr lang="ko-KR" altLang="en-US" sz="10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및 지능 레이어</a:t>
                      </a:r>
                      <a:r>
                        <a:rPr lang="en-US" altLang="ko-KR" sz="10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실험 기획자 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Brain)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55558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rtl="0"/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Layer 3: Harness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000" b="1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Control &amp; Safety Layer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안전 및 오케스트레이션 레이어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작업 감독관 및 안전장치 </a:t>
                      </a:r>
                      <a:r>
                        <a:rPr lang="en-US" altLang="ko-KR" sz="10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(Supervisor)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8799808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rtl="0"/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Layer 2: Middleware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0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Driver &amp; Middleware Layer</a:t>
                      </a:r>
                      <a:r>
                        <a:rPr lang="ko-KR" altLang="en-US" sz="10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드라이버 및 미들웨어 레이어</a:t>
                      </a:r>
                      <a:r>
                        <a:rPr lang="en-US" altLang="ko-KR" sz="10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신경망 및 통신 도로 </a:t>
                      </a:r>
                      <a:r>
                        <a:rPr lang="en-US" altLang="ko-KR" sz="10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(Pipeline)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2302894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rtl="0"/>
                      <a:r>
                        <a:rPr lang="en-US" sz="10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Layer 1: Device</a:t>
                      </a:r>
                      <a:endParaRPr lang="en-US" sz="10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000" b="1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Hardware Layer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물리 장비 레이어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실제 손과 발이 되는 설비 </a:t>
                      </a:r>
                      <a:r>
                        <a:rPr lang="en-US" altLang="ko-KR" sz="10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(Physical Hands)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79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4619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15580-ABB2-E566-7ACE-DE845F9FA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0BCD168-47EF-78C9-C5A1-11042AF5BB76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2646641"/>
          <a:ext cx="7886700" cy="24231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428153082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4914089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6162597"/>
                    </a:ext>
                  </a:extLst>
                </a:gridCol>
              </a:tblGrid>
              <a:tr h="268605"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기존 구조</a:t>
                      </a:r>
                      <a:endParaRPr lang="ko-KR" altLang="en-US" sz="10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통상용어 </a:t>
                      </a:r>
                      <a:r>
                        <a:rPr lang="en-US" altLang="ko-KR" sz="1000" b="1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Standard Terminology)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직관적 비유</a:t>
                      </a:r>
                      <a:endParaRPr lang="ko-KR" altLang="en-US" sz="100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0739651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rtl="0"/>
                      <a:r>
                        <a:rPr lang="en-US" sz="10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Layer 4: Agent</a:t>
                      </a:r>
                      <a:endParaRPr lang="en-US" sz="10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AI Agent Layer</a:t>
                      </a:r>
                      <a:r>
                        <a:rPr lang="en-US" sz="10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(AI </a:t>
                      </a:r>
                      <a:r>
                        <a:rPr lang="ko-KR" altLang="en-US" sz="1000" dirty="0" err="1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플래너</a:t>
                      </a:r>
                      <a:r>
                        <a:rPr lang="ko-KR" altLang="en-US" sz="10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및 지능 레이어</a:t>
                      </a:r>
                      <a:r>
                        <a:rPr lang="en-US" altLang="ko-KR" sz="10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실험 기획자 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Brain)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55558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rtl="0"/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Layer 3: Harness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000" b="1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Control &amp; Safety Layer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안전 및 오케스트레이션 레이어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작업 감독관 및 안전장치 </a:t>
                      </a:r>
                      <a:r>
                        <a:rPr lang="en-US" altLang="ko-KR" sz="10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(Supervisor)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8799808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rtl="0"/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Layer 2: Middleware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0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Driver &amp; Middleware Layer</a:t>
                      </a:r>
                      <a:r>
                        <a:rPr lang="ko-KR" altLang="en-US" sz="10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드라이버 및 미들웨어 레이어</a:t>
                      </a:r>
                      <a:r>
                        <a:rPr lang="en-US" altLang="ko-KR" sz="10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신경망 및 통신 도로 </a:t>
                      </a:r>
                      <a:r>
                        <a:rPr lang="en-US" altLang="ko-KR" sz="10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(Pipeline)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2302894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rtl="0"/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Layer 1: Device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000" b="1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Hardware Layer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물리 장비 레이어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실제 손과 발이 되는 설비 </a:t>
                      </a:r>
                      <a:r>
                        <a:rPr lang="en-US" altLang="ko-KR" sz="10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(Physical Hands)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79469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A3B433B8-98D1-49A9-5474-293504AB2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232" y="2064544"/>
            <a:ext cx="8436769" cy="392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ko-KR" altLang="ko-KR" sz="900" dirty="0">
              <a:solidFill>
                <a:srgbClr val="1F1F1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업계 통용 레이어 비교 요약</a:t>
            </a:r>
            <a:endParaRPr lang="ko-KR" altLang="ko-KR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9499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9ED17C0-7A05-6C4E-C663-61C00EFF7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631" y="1057663"/>
            <a:ext cx="8586788" cy="3713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Self-Driving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Lab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및 실험 자동화 시스템에서 설비 간 통신 인터페이스로 사용되는 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REST API,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gRPC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SiLA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2, OPC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UA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의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풀네임과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주요 특징입니다.</a:t>
            </a:r>
            <a:endParaRPr lang="en-US" altLang="ko-KR" sz="900" dirty="0">
              <a:solidFill>
                <a:srgbClr val="1F1F1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b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 REST API</a:t>
            </a: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풀네임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presentational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tate 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ransfer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pplication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rogramming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I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nterface</a:t>
            </a:r>
            <a:endParaRPr lang="ko-KR" altLang="ko-KR" sz="900" dirty="0">
              <a:solidFill>
                <a:srgbClr val="1F1F1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개념 및 특징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</a:t>
            </a:r>
          </a:p>
          <a:p>
            <a:pPr marL="342900" lvl="1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인터넷 웹 기술(HTTP/HTTPS)을 기반으로 자원(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Resource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)을 주고받는 가장 대중적인 아키텍처 스타일입니다.</a:t>
            </a:r>
          </a:p>
          <a:p>
            <a:pPr marL="342900" lvl="1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Format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주로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JSON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이나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XML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을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사용합니다.</a:t>
            </a:r>
          </a:p>
          <a:p>
            <a:pPr marL="342900" lvl="1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장점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직관적이고 표준화되어 있어 개발 언어나 플랫폼에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구애받지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않으며, 디버깅과 테스트가 매우 쉽습니다.</a:t>
            </a:r>
          </a:p>
          <a:p>
            <a:pPr marL="342900" lvl="1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단점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HTTP 텍스트 기반 통신이라 데이터 크기가 비교적 크고, 실시간 하드웨어 제어나 고속 통신에는 오버헤드가 발생할 수 있습니다.</a:t>
            </a: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2.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gRPC</a:t>
            </a:r>
            <a:endParaRPr lang="ko-KR" altLang="ko-KR" sz="900" b="1" dirty="0">
              <a:solidFill>
                <a:srgbClr val="1F1F1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풀네임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RPC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emote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rocedure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all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i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ko-KR" sz="900" i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g는</a:t>
            </a:r>
            <a:r>
              <a:rPr lang="ko-KR" altLang="ko-KR" sz="900" i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구글을 의미하며 매 버전마다 의미가 새로 정의됨)</a:t>
            </a:r>
            <a:endParaRPr lang="ko-KR" altLang="ko-KR" sz="900" dirty="0">
              <a:solidFill>
                <a:srgbClr val="1F1F1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개념 및 특징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</a:t>
            </a:r>
          </a:p>
          <a:p>
            <a:pPr marL="342900" lvl="1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구글이 개발한 고성능, 오픈소스 원격 호출(RPC)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프레임워크입니다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</a:p>
          <a:p>
            <a:pPr marL="342900" lvl="1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Format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Protocol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Buffers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Protobuf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)라는 바이너리 포맷을 사용하며, 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HTTP/2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기반으로 동작합니다.</a:t>
            </a:r>
          </a:p>
          <a:p>
            <a:pPr marL="342900" lvl="1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장점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데이터를 바이너리로 압축하여 전송하므로 속도가 매우 빠르고 데이터 크기가 작습니다. 양방향 스트리밍을 기본 지원하여 실시간 센서 데이터 수집이나 고속 제어 명령 전송에 매우 적합합니다.</a:t>
            </a:r>
          </a:p>
          <a:p>
            <a:pPr marL="342900" lvl="1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단점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바이너리 데이터 특성상 사람이 직접 텍스트로 읽을 수 없어 별도의 디버깅 도구가 필요합니다.</a:t>
            </a: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ko-KR" altLang="ko-KR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7517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C60CF-AA98-CB11-61C7-F64DE0AB6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50B5A91-A1BE-14E0-3019-BC49FD209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631" y="1057663"/>
            <a:ext cx="8586788" cy="4128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Self-Driving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Lab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및 실험 자동화 시스템에서 설비 간 통신 인터페이스로 사용되는 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REST API,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gRPC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SiLA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2, OPC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UA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의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풀네임과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주요 특징입니다.</a:t>
            </a:r>
            <a:endParaRPr lang="en-US" altLang="ko-KR" sz="900" dirty="0">
              <a:solidFill>
                <a:srgbClr val="1F1F1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b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3.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SiLA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2</a:t>
            </a: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풀네임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tandardization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i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aboratory 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utomation 2</a:t>
            </a: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개념 및 특징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</a:t>
            </a:r>
          </a:p>
          <a:p>
            <a:pPr marL="342900" lvl="1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실험실 자동화 전용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으로 개발된 국제 표준 통신 및 데이터 아키텍처입니다.</a:t>
            </a:r>
          </a:p>
          <a:p>
            <a:pPr marL="342900" lvl="1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기반 기술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내부 데이터 통신 레이어로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gRPC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와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Protobuf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를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활용합니다.</a:t>
            </a:r>
          </a:p>
          <a:p>
            <a:pPr marL="342900" lvl="1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장점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액체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이송기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Pipette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),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분광광도계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등 실험 장비의 기능(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Feature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)을 표준화된 방식으로 정의합니다.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Dynamic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Discovery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Zero-conf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기능을 기본 지원하여 장비가 네트워크에 연결되면 스스로 자신이 가진 기능과 API 스키마를 상위에 알리는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Plug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&amp;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Play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체계 구축에 가장 유리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합니다.</a:t>
            </a:r>
          </a:p>
          <a:p>
            <a:pPr marL="342900" lvl="1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단점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바이오/화학 실험실 자동화 분야에 특화되어 있어 일반 산업용 생태계에 비해 드라이버를 직접 구현해야 하는 경우가 많습니다.</a:t>
            </a: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ko-KR" altLang="ko-KR" sz="900" b="1" dirty="0">
              <a:solidFill>
                <a:srgbClr val="1F1F1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4. OPC UA</a:t>
            </a: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풀네임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pen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latform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ommunications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U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nified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b="1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rchitecture</a:t>
            </a:r>
            <a:endParaRPr lang="ko-KR" altLang="ko-KR" sz="900" dirty="0">
              <a:solidFill>
                <a:srgbClr val="1F1F1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개념 및 특징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</a:t>
            </a:r>
          </a:p>
          <a:p>
            <a:pPr marL="342900" lvl="1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스마트 팩토리 및 산업용 자동화(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Industrial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IoT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분야에서 가장 널리 쓰이는 표준 통신 프로토콜입니다.</a:t>
            </a:r>
          </a:p>
          <a:p>
            <a:pPr marL="342900" lvl="1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기반 기술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플랫폼 독립적 아키텍처로, 바이너리 통신과 텍스트(JSON) 통신을 모두 지원하며 강력한 암호화 보안 기능이 내장되어 있습니다.</a:t>
            </a:r>
          </a:p>
          <a:p>
            <a:pPr marL="342900" lvl="1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장점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단순 데이터 전송을 넘어, 장비의 복잡한 구조와 상태 데이터 모델(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Information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ko-KR" sz="900" dirty="0" err="1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Model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)을 객체 지향적으로 표현할 수 있습니다. 산업용 PLC, 로봇 팔, 환경 센서 등 제조/생산 설비와의 연동성이 뛰어납니다.</a:t>
            </a:r>
          </a:p>
          <a:p>
            <a:pPr marL="342900" lvl="1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900" b="1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단점</a:t>
            </a:r>
            <a:r>
              <a:rPr lang="ko-KR" altLang="ko-KR" sz="900" dirty="0">
                <a:solidFill>
                  <a:srgbClr val="1F1F1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사양이 매우 방대하고 복잡하여 초기 학습 곡선이 높고 프로토콜 탑재 시 개발 부담이 상대적으로 큽니다.</a:t>
            </a: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ko-KR" altLang="ko-KR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411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3A023E8-21DD-57F2-113D-9B1406B1B57A}"/>
              </a:ext>
            </a:extLst>
          </p:cNvPr>
          <p:cNvGraphicFramePr>
            <a:graphicFrameLocks noGrp="1"/>
          </p:cNvGraphicFramePr>
          <p:nvPr/>
        </p:nvGraphicFramePr>
        <p:xfrm>
          <a:off x="500063" y="1987987"/>
          <a:ext cx="7886700" cy="1874520"/>
        </p:xfrm>
        <a:graphic>
          <a:graphicData uri="http://schemas.openxmlformats.org/drawingml/2006/table">
            <a:tbl>
              <a:tblPr/>
              <a:tblGrid>
                <a:gridCol w="1577340">
                  <a:extLst>
                    <a:ext uri="{9D8B030D-6E8A-4147-A177-3AD203B41FA5}">
                      <a16:colId xmlns:a16="http://schemas.microsoft.com/office/drawing/2014/main" val="317728418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656572455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761743162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1530844422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923555601"/>
                    </a:ext>
                  </a:extLst>
                </a:gridCol>
              </a:tblGrid>
              <a:tr h="268605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0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기술</a:t>
                      </a:r>
                      <a:endParaRPr lang="ko-KR" altLang="en-US" sz="10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0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 활용 분야</a:t>
                      </a:r>
                      <a:endParaRPr lang="ko-KR" altLang="en-US" sz="10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0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통신 속도</a:t>
                      </a:r>
                      <a:r>
                        <a:rPr lang="en-US" altLang="ko-KR" sz="10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효율</a:t>
                      </a:r>
                      <a:endParaRPr lang="ko-KR" altLang="en-US" sz="10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Plug &amp; Play </a:t>
                      </a:r>
                      <a:r>
                        <a:rPr lang="ko-KR" altLang="en-US" sz="1000" b="1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적합성</a:t>
                      </a:r>
                      <a:endParaRPr lang="ko-KR" altLang="en-US" sz="100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0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특징</a:t>
                      </a:r>
                      <a:endParaRPr lang="ko-KR" altLang="en-US" sz="10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8299418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rtl="0"/>
                      <a:r>
                        <a:rPr lang="en-US" sz="9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REST API</a:t>
                      </a:r>
                      <a:endParaRPr lang="en-US" sz="9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9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상위 </a:t>
                      </a:r>
                      <a:r>
                        <a:rPr lang="en-US" altLang="ko-KR" sz="9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IT </a:t>
                      </a:r>
                      <a:r>
                        <a:rPr lang="ko-KR" altLang="en-US" sz="9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시스템 연동</a:t>
                      </a:r>
                      <a:r>
                        <a:rPr lang="en-US" altLang="ko-KR" sz="9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단순 제어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9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보통 </a:t>
                      </a:r>
                      <a:r>
                        <a:rPr lang="en-US" altLang="ko-KR" sz="9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JSON </a:t>
                      </a:r>
                      <a:r>
                        <a:rPr lang="ko-KR" altLang="en-US" sz="9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기반</a:t>
                      </a:r>
                      <a:r>
                        <a:rPr lang="en-US" altLang="ko-KR" sz="9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보통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9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범용적</a:t>
                      </a:r>
                      <a:r>
                        <a:rPr lang="en-US" altLang="ko-KR" sz="9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구현 및 테스트 매우 용이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66772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rtl="0"/>
                      <a:r>
                        <a:rPr lang="en-US" sz="900" b="1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gRPC</a:t>
                      </a:r>
                      <a:endParaRPr lang="en-US" sz="90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9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고속 데이터 처리</a:t>
                      </a:r>
                      <a:r>
                        <a:rPr lang="en-US" altLang="ko-KR" sz="9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실시간 스트리밍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9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매우 높음 </a:t>
                      </a:r>
                      <a:r>
                        <a:rPr lang="en-US" altLang="ko-KR" sz="9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바이너리</a:t>
                      </a:r>
                      <a:r>
                        <a:rPr lang="en-US" altLang="ko-KR" sz="9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9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보통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구글 주도</a:t>
                      </a:r>
                      <a:r>
                        <a:rPr lang="en-US" altLang="ko-KR" sz="9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저경량</a:t>
                      </a:r>
                      <a:r>
                        <a:rPr lang="en-US" altLang="ko-KR" sz="9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고성능 마이크로서비스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785227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rtl="0"/>
                      <a:r>
                        <a:rPr lang="en-US" sz="900" b="1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SiLA 2</a:t>
                      </a:r>
                      <a:endParaRPr lang="en-US" sz="90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9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실험실 자동화 </a:t>
                      </a:r>
                      <a:r>
                        <a:rPr lang="en-US" altLang="ko-KR" sz="9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en-US" sz="9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Lab Automation)</a:t>
                      </a:r>
                      <a:endParaRPr lang="en-US" sz="9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9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매우 높음 </a:t>
                      </a:r>
                      <a:r>
                        <a:rPr lang="en-US" altLang="ko-KR" sz="9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en-US" altLang="ko-KR" sz="900" dirty="0" err="1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gRPC</a:t>
                      </a:r>
                      <a:r>
                        <a:rPr lang="en-US" altLang="ko-KR" sz="9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기반</a:t>
                      </a:r>
                      <a:r>
                        <a:rPr lang="en-US" altLang="ko-KR" sz="9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9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매우 높음</a:t>
                      </a:r>
                      <a:endParaRPr lang="ko-KR" altLang="en-US" sz="9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900" b="1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실험장비 전용 표준</a:t>
                      </a:r>
                      <a:r>
                        <a:rPr lang="en-US" altLang="ko-KR" sz="9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기능 자동 감지</a:t>
                      </a:r>
                      <a:r>
                        <a:rPr lang="en-US" altLang="ko-KR" sz="9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(Discovery)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398186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rtl="0"/>
                      <a:r>
                        <a:rPr lang="en-US" sz="900" b="1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OPC UA</a:t>
                      </a:r>
                      <a:endParaRPr lang="en-US" sz="90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9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스마트 팩토리</a:t>
                      </a:r>
                      <a:r>
                        <a:rPr lang="en-US" altLang="ko-KR" sz="9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산업용 설비</a:t>
                      </a:r>
                      <a:r>
                        <a:rPr lang="en-US" altLang="ko-KR" sz="9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/PLC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9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높음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9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높음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9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산업 표준</a:t>
                      </a:r>
                      <a:r>
                        <a:rPr lang="en-US" altLang="ko-KR" sz="9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정보 모델링 및 강력한 보안</a:t>
                      </a:r>
                    </a:p>
                  </a:txBody>
                  <a:tcPr marL="85725" marR="85725" marT="57150" marB="571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729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7891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6A646-F6B4-F35B-9CCA-75F22A150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FFA45A8-0739-D39E-1CBB-44AB3FF07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58" y="1871445"/>
            <a:ext cx="9066684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948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228850"/>
            <a:ext cx="7680960" cy="14630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dirty="0"/>
              <a:t>실험자동화 아키텍처 개발 기획안 (수정안)</a:t>
            </a:r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874770"/>
            <a:ext cx="7680960" cy="10972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dirty="0"/>
              <a:t>공개 문헌 검토 반영 · v0.2 초안</a:t>
            </a:r>
          </a:p>
          <a:p>
            <a:r>
              <a:rPr lang="en-US" dirty="0"/>
              <a:t>[작성일 / 작성 부서]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177290"/>
            <a:ext cx="8046720" cy="6400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/>
              <a:t>4-Layer + 데이터 계층 구조 (수정안)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2045970"/>
            <a:ext cx="6583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48640" y="2045970"/>
            <a:ext cx="73152" cy="7315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204597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4 · AI Agent</a:t>
            </a:r>
            <a:endParaRPr lang="en-US" sz="1500" dirty="0"/>
          </a:p>
          <a:p>
            <a:pPr>
              <a:spcBef>
                <a:spcPts val="300"/>
              </a:spcBef>
            </a:pPr>
            <a:r>
              <a:rPr 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계획, 가상 검증, DoE 도출, 데이터 분석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887218"/>
            <a:ext cx="3246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48640" y="2887218"/>
            <a:ext cx="73152" cy="731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288721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L3-A · 오케스트레이션</a:t>
            </a:r>
            <a:endParaRPr lang="en-US" sz="1400" dirty="0"/>
          </a:p>
          <a:p>
            <a:pPr>
              <a:spcBef>
                <a:spcPts val="300"/>
              </a:spcBef>
            </a:pPr>
            <a:r>
              <a:rPr lang="en-US" sz="11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 operation 기반 workflow, 스케줄링, 상태 점검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86200" y="2887218"/>
            <a:ext cx="3246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886200" y="2887218"/>
            <a:ext cx="73152" cy="731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4069080" y="288721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L3-B · 안전 게이트</a:t>
            </a:r>
            <a:endParaRPr lang="en-US" sz="1400" dirty="0"/>
          </a:p>
          <a:p>
            <a:pPr>
              <a:spcBef>
                <a:spcPts val="300"/>
              </a:spcBef>
            </a:pPr>
            <a:r>
              <a:rPr lang="en-US" sz="11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Schema 검증, 안전 정책, 승인 중재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28466"/>
            <a:ext cx="6583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48640" y="3728466"/>
            <a:ext cx="73152" cy="7315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731520" y="3728466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2 · Driver / Middleware</a:t>
            </a:r>
            <a:endParaRPr lang="en-US" sz="1500" dirty="0"/>
          </a:p>
          <a:p>
            <a:pPr>
              <a:spcBef>
                <a:spcPts val="300"/>
              </a:spcBef>
            </a:pPr>
            <a:r>
              <a:rPr 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 프로토콜, 장비 기능 모델, 장비 API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569714"/>
            <a:ext cx="6583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48640" y="4569714"/>
            <a:ext cx="73152" cy="7315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731520" y="4569714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1 · Hardware</a:t>
            </a:r>
            <a:endParaRPr lang="en-US" sz="1500" dirty="0"/>
          </a:p>
          <a:p>
            <a:pPr>
              <a:spcBef>
                <a:spcPts val="300"/>
              </a:spcBef>
            </a:pPr>
            <a:r>
              <a:rPr 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실험·분석 설비, 센서, 물류 로봇 (재현성 기준 적용)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0" y="2045970"/>
            <a:ext cx="1280160" cy="325526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7498080" y="2045970"/>
            <a:ext cx="1005840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· Metadata</a:t>
            </a:r>
            <a:endParaRPr lang="en-US" sz="1300" dirty="0"/>
          </a:p>
          <a:p>
            <a:pPr>
              <a:spcBef>
                <a:spcPts val="300"/>
              </a:spcBef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온톨로지 메타데이터</a:t>
            </a:r>
            <a:endParaRPr lang="en-US" sz="1300" dirty="0"/>
          </a:p>
          <a:p>
            <a:pPr>
              <a:spcBef>
                <a:spcPts val="300"/>
              </a:spcBef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provenance</a:t>
            </a:r>
            <a:endParaRPr lang="en-US" sz="1300" dirty="0"/>
          </a:p>
          <a:p>
            <a:pPr>
              <a:spcBef>
                <a:spcPts val="300"/>
              </a:spcBef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AnIML · Allotrope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41096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accent4"/>
                </a:solidFill>
              </a:rPr>
              <a:t>Agent는 L3 Gateway를 통해서만 설비에 접근 · L3 분리와 데이터 계층 배치는 협의 사항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56578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177290"/>
            <a:ext cx="8046720" cy="6400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/>
              <a:t>Layer 1 · 2 설비 및 연계 기반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2045970"/>
            <a:ext cx="3200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48640" y="2045970"/>
            <a:ext cx="73152" cy="32918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204597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1 · Hardware</a:t>
            </a:r>
            <a:endParaRPr lang="en-US" sz="160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4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설비·센서·물류 로봇·협동로봇</a:t>
            </a:r>
            <a:endParaRPr lang="en-US" sz="160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4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불활성 분위기 대응: 공기 차단 샘플링, 용매 호환 labware</a:t>
            </a:r>
            <a:endParaRPr lang="en-US" sz="160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4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핸들링 모듈(그리퍼 등)은 반복 재현성(RSD) 기준 설정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31920" y="2045970"/>
            <a:ext cx="4663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931920" y="2045970"/>
            <a:ext cx="73152" cy="10058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4114800" y="204597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L2-a 전송 프로토콜</a:t>
            </a:r>
            <a:endParaRPr lang="en-US" sz="1400" dirty="0"/>
          </a:p>
          <a:p>
            <a:pPr>
              <a:spcBef>
                <a:spcPts val="300"/>
              </a:spcBef>
            </a:pPr>
            <a:r>
              <a:rPr lang="en-US" sz="13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OPC UA, MQTT, Modbus (MQTT·Modbus는 센서 등 저수준 연결용)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31920" y="3143250"/>
            <a:ext cx="4663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931920" y="3143250"/>
            <a:ext cx="73152" cy="10058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4114800" y="314325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L2-b 장비 기능 모델</a:t>
            </a:r>
            <a:endParaRPr lang="en-US" sz="1400" dirty="0"/>
          </a:p>
          <a:p>
            <a:pPr>
              <a:spcBef>
                <a:spcPts val="300"/>
              </a:spcBef>
            </a:pPr>
            <a:r>
              <a:rPr lang="en-US" sz="13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SiLA 2, OPC UA LADS (SiLA 2 우선 검토, LADS는 동향 모니터링)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931920" y="4240530"/>
            <a:ext cx="4663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931920" y="4240530"/>
            <a:ext cx="73152" cy="10972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4114800" y="424053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L2-c 데이터 포맷</a:t>
            </a:r>
            <a:endParaRPr lang="en-US" sz="1400" dirty="0"/>
          </a:p>
          <a:p>
            <a:pPr>
              <a:spcBef>
                <a:spcPts val="300"/>
              </a:spcBef>
            </a:pPr>
            <a:r>
              <a:rPr lang="en-US" sz="13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AnIML, Allotrope · 장비 Driver는 공통 API로 추상화, 메시지 큐·상태 머신·OT/IT 보안 경계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56578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177290"/>
            <a:ext cx="8046720" cy="6400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/>
              <a:t>Layer 3 · 실행 단위 계층과 Gateway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2045970"/>
            <a:ext cx="1783080" cy="1143000"/>
          </a:xfrm>
          <a:prstGeom prst="rect">
            <a:avLst/>
          </a:prstGeom>
          <a:solidFill>
            <a:srgbClr val="1FA38A"/>
          </a:solidFill>
          <a:ln w="12700">
            <a:solidFill>
              <a:srgbClr val="1FA3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731520" y="204597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Primitive</a:t>
            </a:r>
            <a:endParaRPr lang="en-US" sz="1300" dirty="0"/>
          </a:p>
          <a:p>
            <a:pPr>
              <a:spcBef>
                <a:spcPts val="300"/>
              </a:spcBef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단위 최소 동작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331720" y="2274570"/>
            <a:ext cx="301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/>
              <a:t>→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633472" y="2045970"/>
            <a:ext cx="1783080" cy="1143000"/>
          </a:xfrm>
          <a:prstGeom prst="rect">
            <a:avLst/>
          </a:prstGeom>
          <a:solidFill>
            <a:srgbClr val="1FA38A"/>
          </a:solidFill>
          <a:ln w="12700">
            <a:solidFill>
              <a:srgbClr val="1FA3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2816352" y="204597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 Operation</a:t>
            </a:r>
            <a:endParaRPr lang="en-US" sz="1300" dirty="0"/>
          </a:p>
          <a:p>
            <a:pPr>
              <a:spcBef>
                <a:spcPts val="300"/>
              </a:spcBef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 있는 단일 조작 (Tool Schema 단위)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416552" y="2274570"/>
            <a:ext cx="301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/>
              <a:t>→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18304" y="2045970"/>
            <a:ext cx="1783080" cy="1143000"/>
          </a:xfrm>
          <a:prstGeom prst="rect">
            <a:avLst/>
          </a:prstGeom>
          <a:solidFill>
            <a:srgbClr val="1FA38A"/>
          </a:solidFill>
          <a:ln w="12700">
            <a:solidFill>
              <a:srgbClr val="1FA3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4901184" y="204597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State-preserving Flow</a:t>
            </a:r>
            <a:endParaRPr lang="en-US" sz="1300" dirty="0"/>
          </a:p>
          <a:p>
            <a:pPr>
              <a:spcBef>
                <a:spcPts val="300"/>
              </a:spcBef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보존 계약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01384" y="2274570"/>
            <a:ext cx="301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/>
              <a:t>→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803136" y="2045970"/>
            <a:ext cx="1783080" cy="1143000"/>
          </a:xfrm>
          <a:prstGeom prst="rect">
            <a:avLst/>
          </a:prstGeom>
          <a:solidFill>
            <a:srgbClr val="1FA38A"/>
          </a:solidFill>
          <a:ln w="12700">
            <a:solidFill>
              <a:srgbClr val="1FA3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986016" y="204597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</a:t>
            </a:r>
            <a:endParaRPr lang="en-US" sz="1300" dirty="0"/>
          </a:p>
          <a:p>
            <a:pPr>
              <a:spcBef>
                <a:spcPts val="300"/>
              </a:spcBef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물리·가상 연산 통합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417570"/>
            <a:ext cx="3931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48640" y="3417570"/>
            <a:ext cx="73152" cy="19202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731520" y="341757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L3-A 오케스트레이션·스케줄링</a:t>
            </a:r>
            <a:endParaRPr lang="en-US" sz="160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4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큐, 자원 스케줄링</a:t>
            </a:r>
            <a:endParaRPr lang="en-US" sz="160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4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실행 상태 점검</a:t>
            </a:r>
            <a:endParaRPr lang="en-US" sz="160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4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실행 시 상태 충돌 검증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63440" y="3417570"/>
            <a:ext cx="3931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663440" y="3417570"/>
            <a:ext cx="73152" cy="19202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4846320" y="341757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L3-B 안전 게이트</a:t>
            </a:r>
            <a:endParaRPr lang="en-US" sz="160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4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입력·출력·허용 범위 검증</a:t>
            </a:r>
            <a:endParaRPr lang="en-US" sz="160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4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등급별 승인 정책 (다음 장)</a:t>
            </a:r>
            <a:endParaRPr lang="en-US" sz="160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4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판단과 무관하게 결정적으로 차단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56578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177290"/>
            <a:ext cx="8046720" cy="6400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/>
              <a:t>Layer 3-B · 위험 등급별 안전 정책</a:t>
            </a:r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48640" y="2045970"/>
          <a:ext cx="804672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 (예시)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스키마·범위 검증 통과, 저위험 unit operation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실행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고위험 공정, 신규 조합, 코드 실행 도구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 승인 후 실행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인터락 위반, 한계값 초과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차단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14909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/>
              <a:t>SOP·매뉴얼의 자연어 규칙을 기계 검증 가능한 규칙으로 변환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/>
              <a:t>시뮬레이션 사전 검증을 통과한 요청에만 실행 권한 부여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/>
              <a:t>LLM의 안전 판단에 의존하지 않고 Gateway에서 강제 (안전 규칙을 언어로 아는 것과 물리적으로 지키는 것은 별개)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56578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177290"/>
            <a:ext cx="8046720" cy="6400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/>
              <a:t>단계별 추진 계획 (수정안)</a:t>
            </a:r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48640" y="2045970"/>
          <a:ext cx="804672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Layer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산출물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 기준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Phase 1 기반 구축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L1 · L2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설비 조사, 프로토콜·표준 선정, Driver PoC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설비 통신 연동, 핸들링 모듈 RSD 기준 충족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Phase 2 Gateway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unit operation 단위 Tool Schema, 안전 정책, 스케줄러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위험 등급별 승인 정책 동작 검증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Phase 3 Agent 연계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L4 · Data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가상 검증, DoE, 메타데이터 체계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Agent 제안 실험을 승인하에 수행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Phase 4 자율 수준 상향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L1~L4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범위의 단계적 축소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없이 실행할 범위를 정의·달성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29209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accent4"/>
                </a:solidFill>
              </a:rPr>
              <a:t>기간·인력은 확정 후 기재 [일정 __ / 인력 __]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56578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177290"/>
            <a:ext cx="8046720" cy="6400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/>
              <a:t>협의 필요 사항 및 리스크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2045970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48640" y="2045970"/>
            <a:ext cx="73152" cy="30175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204597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필요</a:t>
            </a:r>
            <a:endParaRPr lang="en-US" sz="160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4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L3 분리 여부 (오케스트레이션 / 안전 게이트)</a:t>
            </a:r>
            <a:endParaRPr lang="en-US" sz="160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4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계층 배치 (별도 Layer / 횡단)</a:t>
            </a:r>
            <a:endParaRPr lang="en-US" sz="160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4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기능 모델 표준 (SiLA 2 / LADS)</a:t>
            </a:r>
            <a:endParaRPr lang="en-US" sz="160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4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정책의 등급 기준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2045970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663440" y="2045970"/>
            <a:ext cx="73152" cy="301752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4846320" y="204597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리스크</a:t>
            </a:r>
            <a:endParaRPr lang="en-US" sz="160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4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공기 차단 유지 샘플링, 용매 호환</a:t>
            </a:r>
            <a:endParaRPr lang="en-US" sz="160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4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재현성 부족 (비전·환경 제어 보강 필요)</a:t>
            </a:r>
            <a:endParaRPr lang="en-US" sz="160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4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벤더 장비 API 비개방</a:t>
            </a:r>
            <a:endParaRPr lang="en-US" sz="160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4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시뮬레이션과 실제 괴리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24637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accent4"/>
                </a:solidFill>
              </a:rPr>
              <a:t>참고: ChemOS 2.0, SDL 2.0 리뷰(2026), SDL 오케스트레이션 계층 연구(2026), SiLA 2·LADS 평가, ALBATROSS, ODACell, Aurora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56578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3143</Words>
  <Application>Microsoft Office PowerPoint</Application>
  <PresentationFormat>화면 슬라이드 쇼(4:3)</PresentationFormat>
  <Paragraphs>409</Paragraphs>
  <Slides>23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0" baseType="lpstr">
      <vt:lpstr>Noto Sans KR</vt:lpstr>
      <vt:lpstr>Arial</vt:lpstr>
      <vt:lpstr>Malgun Gothic</vt:lpstr>
      <vt:lpstr>Calibri</vt:lpstr>
      <vt:lpstr>Arial Narrow</vt:lpstr>
      <vt:lpstr>Malgun Gothic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실험자동화 아키텍처 개발 기획안 (수정안)</vt:lpstr>
      <vt:lpstr>4-Layer + 데이터 계층 구조 (수정안)</vt:lpstr>
      <vt:lpstr>Layer 1 · 2 설비 및 연계 기반</vt:lpstr>
      <vt:lpstr>Layer 3 · 실행 단위 계층과 Gateway</vt:lpstr>
      <vt:lpstr>Layer 3-B · 위험 등급별 안전 정책</vt:lpstr>
      <vt:lpstr>단계별 추진 계획 (수정안)</vt:lpstr>
      <vt:lpstr>협의 필요 사항 및 리스크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장은수(EUNSU JANG)[jeus21]</dc:creator>
  <cp:keywords/>
  <dc:description>generated using python-pptx</dc:description>
  <cp:lastModifiedBy>이정훈(JUNGHOON LEE)[junghoon.2]/책임/Cell선행.소재개발AX팀</cp:lastModifiedBy>
  <cp:revision>3</cp:revision>
  <dcterms:created xsi:type="dcterms:W3CDTF">2013-01-27T09:14:16Z</dcterms:created>
  <dcterms:modified xsi:type="dcterms:W3CDTF">2026-10-07T06:34:22Z</dcterms:modified>
  <cp:category/>
</cp:coreProperties>
</file>